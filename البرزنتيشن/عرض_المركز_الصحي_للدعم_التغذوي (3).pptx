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24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العنوان وفريق العمل كما وردا في العرض المرفق.</a:t>
            </a:r>
          </a:p>
          <a:p>
            <a:r>
              <a:t>[Sources]</a:t>
            </a:r>
          </a:p>
          <a:p>
            <a:r>
              <a:t>- العرض المرفق من فريق المشروع.</a:t>
            </a:r>
          </a:p>
          <a:p>
            <a:r>
              <a:t>- https://tupedia.latakia-univ.edu.sy/images/logo1.png — شعار جامعة اللاذقية الرسمي.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عرّف مجال المشروع بوصفه دورة خدمة مترابطة، واذكر أن المتطلبات بُنيت على مقابلات واستبيانين.</a:t>
            </a:r>
          </a:p>
          <a:p>
            <a:r>
              <a:t>[Sources]</a:t>
            </a:r>
          </a:p>
          <a:p>
            <a:r>
              <a:t>- وثيقة التحليل الميداني المرفقة: مشروع تحليل.docx — ثلاث مقابلات، استبيان موظفين (8 ردود)، واستبيان عام (56 رداً).</a:t>
            </a:r>
          </a:p>
          <a:p>
            <a:r>
              <a:t>- كود المشروع المرفق: وحدات المستفيدين والمساعدات والمقالات والإشعارات.</a:t>
            </a:r>
          </a:p>
          <a:p>
            <a:r>
              <a:t>- https://www.who.int/news-room/fact-sheets/detail/malnutrition</a:t>
            </a:r>
          </a:p>
          <a:p>
            <a:r>
              <a:t>- https://tupedia.latakia-univ.edu.sy/images/logo1.png — شعار جامعة اللاذقية الرسمي.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اقرأ النتائج الأربع بوصفها مؤشرات من عينة موظفين صغيرة، ثم اربطها بالحاجة إلى سجل مركزي قابل للتتبع.</a:t>
            </a:r>
          </a:p>
          <a:p>
            <a:r>
              <a:t>[Sources]</a:t>
            </a:r>
          </a:p>
          <a:p>
            <a:r>
              <a:t>- مشروع تحليل.docx — استبيان العاملين: السؤال 7 (إعادة إدخال البيانات)، السؤال 14 (تكرار الشخص)، السؤال 17 (الشكاوى)، السؤال 28 (ضرورة موقع متكامل).</a:t>
            </a:r>
          </a:p>
          <a:p>
            <a:r>
              <a:t>- مشروع تحليل.docx — مقابلات مكتب المساعدة والتوعية والتسجيل والمتابعة.</a:t>
            </a:r>
          </a:p>
          <a:p>
            <a:r>
              <a:t>- https://tupedia.latakia-univ.edu.sy/images/logo1.png — شعار جامعة اللاذقية الرسمي.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اشرح أن كل دور يرى وينفّذ ما تسمح به صلاحياته فقط.</a:t>
            </a:r>
          </a:p>
          <a:p>
            <a:r>
              <a:t>[Sources]</a:t>
            </a:r>
          </a:p>
          <a:p>
            <a:r>
              <a:t>- كود الصلاحيات والواجهات المرفق في تطبيقات users وbeneficiaries وaid وcomplaints وarticles.</a:t>
            </a:r>
          </a:p>
          <a:p>
            <a:r>
              <a:t>- https://tupedia.latakia-univ.edu.sy/images/logo1.png — شعار جامعة اللاذقية الرسمي.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قسّم المتطلبات إلى ثلاثة وظيفية وثلاثة غير وظيفية، مع مثال سريع لكل مجموعة.</a:t>
            </a:r>
          </a:p>
          <a:p>
            <a:r>
              <a:t>[Sources]</a:t>
            </a:r>
          </a:p>
          <a:p>
            <a:r>
              <a:t>- إعدادات Django REST Framework وSimpleJWT وكود المعاملات وقواعد الصلاحيات في المشروع المرفق.</a:t>
            </a:r>
          </a:p>
          <a:p>
            <a:r>
              <a:t>- https://tupedia.latakia-univ.edu.sy/images/logo1.png — شعار جامعة اللاذقية الرسمي.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استخدم المخطط لتوضيح العلاقة بين الأدوار والعمليات، لا لقراءة كل حالة استخدام واحدةً واحدة.</a:t>
            </a:r>
          </a:p>
          <a:p>
            <a:r>
              <a:t>[Sources]</a:t>
            </a:r>
          </a:p>
          <a:p>
            <a:r>
              <a:t>- مخطط حالات الاستخدام المضمّن في العرض المرفق.</a:t>
            </a:r>
          </a:p>
          <a:p>
            <a:r>
              <a:t>- نقاط النهاية والصلاحيات في كود المشروع المرفق.</a:t>
            </a:r>
          </a:p>
          <a:p>
            <a:r>
              <a:t>- https://tupedia.latakia-univ.edu.sy/images/logo1.png — شعار جامعة اللاذقية الرسمي.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ابدأ من الواجهة ثم الخادم ثم البيانات والخدمات الخارجية.</a:t>
            </a:r>
          </a:p>
          <a:p>
            <a:r>
              <a:t>[Sources]</a:t>
            </a:r>
          </a:p>
          <a:p>
            <a:r>
              <a:t>- مخطط المعمارية المضمّن في العرض المرفق.</a:t>
            </a:r>
          </a:p>
          <a:p>
            <a:r>
              <a:t>- إعدادات وقائمة متطلبات الباك إند وpackage.json للواجهة الأمامية.</a:t>
            </a:r>
          </a:p>
          <a:p>
            <a:r>
              <a:t>- https://render.com/docs/deploy-django</a:t>
            </a:r>
          </a:p>
          <a:p>
            <a:r>
              <a:t>- https://cloudinary.com/documentation/django_integration</a:t>
            </a:r>
          </a:p>
          <a:p>
            <a:r>
              <a:t>- https://tupedia.latakia-univ.edu.sy/images/logo1.png — شعار جامعة اللاذقية الرسمي.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الإصدارات الظاهرة مأخوذة من الملفات المرفقة وليست تقديرات.</a:t>
            </a:r>
          </a:p>
          <a:p>
            <a:r>
              <a:t>[Sources]</a:t>
            </a:r>
          </a:p>
          <a:p>
            <a:r>
              <a:t>- package.json وpackage-lock.json للواجهة الأمامية.</a:t>
            </a:r>
          </a:p>
          <a:p>
            <a:r>
              <a:t>- requirements.txt وإعدادات الباك إند.</a:t>
            </a:r>
          </a:p>
          <a:p>
            <a:r>
              <a:t>- https://docs.djangoproject.com/en/6.0/releases/</a:t>
            </a:r>
          </a:p>
          <a:p>
            <a:r>
              <a:t>- https://nextjs.org/docs/app</a:t>
            </a:r>
          </a:p>
          <a:p>
            <a:r>
              <a:t>- https://docs.opencv.org/4.13.0/d0/dd4/tutorial_dnn_face.html</a:t>
            </a:r>
          </a:p>
          <a:p>
            <a:r>
              <a:t>- https://tupedia.latakia-univ.edu.sy/images/logo1.png — شعار جامعة اللاذقية الرسمي.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اختم بما تحقق فعلياً، ثم قدّم ثلاثة مسارات واضحة للتطوير اللاحق.</a:t>
            </a:r>
          </a:p>
          <a:p>
            <a:r>
              <a:t>[Sources]</a:t>
            </a:r>
          </a:p>
          <a:p>
            <a:r>
              <a:t>- كود المشروع المرفق وخطة الأعمال المستقبلية في العرض الأصلي.</a:t>
            </a:r>
          </a:p>
          <a:p>
            <a:r>
              <a:t>- https://tupedia.latakia-univ.edu.sy/images/logo1.png — شعار جامعة اللاذقية الرسمي.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المراجع الأساسية للتقنيات والمجال المستخدمة في العرض.</a:t>
            </a:r>
          </a:p>
          <a:p>
            <a:r>
              <a:t>[Sources]</a:t>
            </a:r>
          </a:p>
          <a:p>
            <a:r>
              <a:t>- مشروع تحليل.docx — التحليل الميداني المرفق.</a:t>
            </a:r>
          </a:p>
          <a:p>
            <a:r>
              <a:t>- الكود المصدري المرفق للواجهة الأمامية والخادم.</a:t>
            </a:r>
          </a:p>
          <a:p>
            <a:r>
              <a:t>- https://docs.djangoproject.com/en/6.0/releases/</a:t>
            </a:r>
          </a:p>
          <a:p>
            <a:r>
              <a:t>- https://www.django-rest-framework.org/</a:t>
            </a:r>
          </a:p>
          <a:p>
            <a:r>
              <a:t>- https://django-rest-framework-simplejwt.readthedocs.io/en/latest/</a:t>
            </a:r>
          </a:p>
          <a:p>
            <a:r>
              <a:t>- https://nextjs.org/docs/app</a:t>
            </a:r>
          </a:p>
          <a:p>
            <a:r>
              <a:t>- https://docs.opencv.org/4.13.0/d0/dd4/tutorial_dnn_face.html</a:t>
            </a:r>
          </a:p>
          <a:p>
            <a:r>
              <a:t>- https://link.springer.com/article/10.1007/s11633-023-1423-y</a:t>
            </a:r>
          </a:p>
          <a:p>
            <a:r>
              <a:t>- https://arxiv.org/abs/2205.12010</a:t>
            </a:r>
          </a:p>
          <a:p>
            <a:r>
              <a:t>- https://www.who.int/news-room/fact-sheets/detail/malnutrition</a:t>
            </a:r>
          </a:p>
          <a:p>
            <a:r>
              <a:t>- https://tupedia.latakia-univ.edu.sy/images/logo1.png — شعار جامعة اللاذقية الرسمي.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351C"/>
            </a:gs>
            <a:gs pos="100000">
              <a:srgbClr val="164C2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95B63C-DFE1-4E20-B3BD-70BBB2D59C68}"/>
              </a:ext>
            </a:extLst>
          </p:cNvPr>
          <p:cNvSpPr>
            <a:spLocks noGrp="1"/>
          </p:cNvSpPr>
          <p:nvPr/>
        </p:nvSpPr>
        <p:spPr>
          <a:xfrm>
            <a:off x="-1463040" y="-2011680"/>
            <a:ext cx="5669280" cy="5669280"/>
          </a:xfrm>
          <a:prstGeom prst="ellipse">
            <a:avLst/>
          </a:prstGeom>
          <a:solidFill>
            <a:srgbClr val="1B5129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5E99F5-AA4D-48B2-AA6E-7CC6D2A7B5B8}"/>
              </a:ext>
            </a:extLst>
          </p:cNvPr>
          <p:cNvSpPr>
            <a:spLocks noGrp="1"/>
          </p:cNvSpPr>
          <p:nvPr/>
        </p:nvSpPr>
        <p:spPr>
          <a:xfrm>
            <a:off x="9509760" y="4023360"/>
            <a:ext cx="4206240" cy="4206240"/>
          </a:xfrm>
          <a:prstGeom prst="ellipse">
            <a:avLst/>
          </a:prstGeom>
          <a:solidFill>
            <a:srgbClr val="1B5129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B2060A-3459-4094-8E9C-417B0E0D094D}"/>
              </a:ext>
            </a:extLst>
          </p:cNvPr>
          <p:cNvSpPr>
            <a:spLocks noGrp="1"/>
          </p:cNvSpPr>
          <p:nvPr/>
        </p:nvSpPr>
        <p:spPr>
          <a:xfrm>
            <a:off x="819150" y="542925"/>
            <a:ext cx="8953500" cy="4000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425">
                <a:solidFill>
                  <a:srgbClr val="CDAE58"/>
                </a:solidFill>
              </a:defRPr>
            </a:pPr>
            <a:r>
              <a:rPr sz="1425">
                <a:solidFill>
                  <a:srgbClr val="CDAE58"/>
                </a:solidFill>
                <a:latin typeface="Arial"/>
                <a:ea typeface="Arial"/>
                <a:cs typeface="Arial"/>
              </a:rPr>
              <a:t>جامعة اللاذقية  |  كلية الهندسة المعلوماتية  |  قسم البرمجيات ونظم المعلومات</a:t>
            </a:r>
            <a:endParaRPr sz="1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87C366E-9D68-4FAE-BAB1-6841C089A93B}"/>
              </a:ext>
            </a:extLst>
          </p:cNvPr>
          <p:cNvSpPr>
            <a:spLocks noGrp="1"/>
          </p:cNvSpPr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نظام المركز الصحي للدعم التغذوي</a:t>
            </a:r>
            <a:endParaRPr sz="4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5BF5C1-B9FE-4A83-91D8-90996DED489D}"/>
              </a:ext>
            </a:extLst>
          </p:cNvPr>
          <p:cNvSpPr>
            <a:spLocks noGrp="1"/>
          </p:cNvSpPr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2175" i="1">
                <a:solidFill>
                  <a:srgbClr val="CDAE58"/>
                </a:solidFill>
              </a:defRPr>
            </a:pPr>
            <a:r>
              <a:rPr sz="2175" i="1">
                <a:solidFill>
                  <a:srgbClr val="CDAE58"/>
                </a:solidFill>
                <a:latin typeface="Arial"/>
                <a:ea typeface="Arial"/>
                <a:cs typeface="Arial"/>
              </a:rPr>
              <a:t>Health Nutritional Support Center System</a:t>
            </a:r>
            <a:endParaRPr sz="2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7D5F7D-DBEB-4DF6-AF98-DF20379733EA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575">
                <a:solidFill>
                  <a:srgbClr val="F2EBD6"/>
                </a:solidFill>
              </a:defRPr>
            </a:pPr>
            <a:r>
              <a:rPr sz="1575">
                <a:solidFill>
                  <a:srgbClr val="F2EBD6"/>
                </a:solidFill>
                <a:latin typeface="Arial"/>
                <a:ea typeface="Arial"/>
                <a:cs typeface="Arial"/>
              </a:rPr>
              <a:t>منصة موحّدة لإدارة المستفيدين والمساعدات مع التحقق من الوجه</a:t>
            </a:r>
            <a:endParaRPr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41CBD18-3D8A-44CF-9598-6CDCBCA04637}"/>
              </a:ext>
            </a:extLst>
          </p:cNvPr>
          <p:cNvSpPr>
            <a:spLocks noGrp="1"/>
          </p:cNvSpPr>
          <p:nvPr/>
        </p:nvSpPr>
        <p:spPr>
          <a:xfrm>
            <a:off x="822960" y="388620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1B5129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55A5DAB-5E8D-4C1F-8EB8-21CB84278FF5}"/>
              </a:ext>
            </a:extLst>
          </p:cNvPr>
          <p:cNvSpPr>
            <a:spLocks noGrp="1"/>
          </p:cNvSpPr>
          <p:nvPr/>
        </p:nvSpPr>
        <p:spPr>
          <a:xfrm>
            <a:off x="1005840" y="40690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500" b="1">
                <a:solidFill>
                  <a:srgbClr val="CDAE58"/>
                </a:solidFill>
              </a:defRPr>
            </a:pPr>
            <a:r>
              <a:rPr sz="1500" b="1">
                <a:solidFill>
                  <a:srgbClr val="CDAE58"/>
                </a:solidFill>
                <a:latin typeface="Arial"/>
                <a:ea typeface="Arial"/>
                <a:cs typeface="Arial"/>
              </a:rPr>
              <a:t>إعداد الطلاب</a:t>
            </a:r>
            <a:endParaRPr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4A3CA4E-E449-40B1-954E-E61398F48953}"/>
              </a:ext>
            </a:extLst>
          </p:cNvPr>
          <p:cNvSpPr>
            <a:spLocks noGrp="1"/>
          </p:cNvSpPr>
          <p:nvPr/>
        </p:nvSpPr>
        <p:spPr>
          <a:xfrm>
            <a:off x="1005840" y="443484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3000"/>
              </a:lnSpc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إبراهيم بركات   ·   عمار خضره</a:t>
            </a:r>
            <a:endParaRPr sz="1800"/>
          </a:p>
          <a:p>
            <a:pPr marL="0" indent="0" algn="r">
              <a:lnSpc>
                <a:spcPts val="3000"/>
              </a:lnSpc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شهد بلال   ·   رنا حسن</a:t>
            </a:r>
            <a:endParaRPr sz="18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10E98DE-9B43-41F4-98A2-EACA07B8DC09}"/>
              </a:ext>
            </a:extLst>
          </p:cNvPr>
          <p:cNvSpPr>
            <a:spLocks noGrp="1"/>
          </p:cNvSpPr>
          <p:nvPr/>
        </p:nvSpPr>
        <p:spPr>
          <a:xfrm>
            <a:off x="6766560" y="3886200"/>
            <a:ext cx="4572000" cy="1691640"/>
          </a:xfrm>
          <a:prstGeom prst="roundRect">
            <a:avLst>
              <a:gd name="adj" fmla="val 6486"/>
            </a:avLst>
          </a:prstGeom>
          <a:solidFill>
            <a:srgbClr val="1B5129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13D7DD-9E59-47C9-A56A-C8349E83B004}"/>
              </a:ext>
            </a:extLst>
          </p:cNvPr>
          <p:cNvSpPr>
            <a:spLocks noGrp="1"/>
          </p:cNvSpPr>
          <p:nvPr/>
        </p:nvSpPr>
        <p:spPr>
          <a:xfrm>
            <a:off x="6949440" y="40690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500" b="1">
                <a:solidFill>
                  <a:srgbClr val="CDAE58"/>
                </a:solidFill>
              </a:defRPr>
            </a:pPr>
            <a:r>
              <a:rPr sz="1500" b="1">
                <a:solidFill>
                  <a:srgbClr val="CDAE58"/>
                </a:solidFill>
                <a:latin typeface="Arial"/>
                <a:ea typeface="Arial"/>
                <a:cs typeface="Arial"/>
              </a:rPr>
              <a:t>إشراف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42842F4-C407-49E7-BA07-566758ADFE21}"/>
              </a:ext>
            </a:extLst>
          </p:cNvPr>
          <p:cNvSpPr>
            <a:spLocks noGrp="1"/>
          </p:cNvSpPr>
          <p:nvPr/>
        </p:nvSpPr>
        <p:spPr>
          <a:xfrm>
            <a:off x="6949440" y="44348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د. باسل حسن</a:t>
            </a:r>
            <a:endParaRPr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EDBCCFA-1C36-4DC5-9968-C5981BC9AC00}"/>
              </a:ext>
            </a:extLst>
          </p:cNvPr>
          <p:cNvSpPr>
            <a:spLocks noGrp="1"/>
          </p:cNvSpPr>
          <p:nvPr/>
        </p:nvSpPr>
        <p:spPr>
          <a:xfrm>
            <a:off x="6949440" y="49834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D6E4D0"/>
                </a:solidFill>
                <a:latin typeface="Arial"/>
                <a:ea typeface="Arial"/>
                <a:cs typeface="Arial"/>
              </a:rPr>
              <a:t>مشروع فصلي — السنة الرابعة — 2025/2026</a:t>
            </a:r>
            <a:endParaRPr sz="130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rcRect l="2500" r="2500"/>
          <a:stretch>
            <a:fillRect/>
          </a:stretch>
        </p:blipFill>
        <p:spPr>
          <a:xfrm>
            <a:off x="9871656" y="170243"/>
            <a:ext cx="1790164" cy="1516889"/>
          </a:xfrm>
          <a:prstGeom prst="ellipse">
            <a:avLst/>
          </a:prstGeom>
        </p:spPr>
      </p:pic>
      <p:sp>
        <p:nvSpPr>
          <p:cNvPr id="16" name="University identity divider">
            <a:extLst>
              <a:ext uri="{FF2B5EF4-FFF2-40B4-BE49-F238E27FC236}">
                <a16:creationId xmlns:a16="http://schemas.microsoft.com/office/drawing/2014/main" id="{C014EDF6-BE73-4D2A-A640-A4FBB52A9E36}"/>
              </a:ext>
            </a:extLst>
          </p:cNvPr>
          <p:cNvSpPr>
            <a:spLocks noGrp="1"/>
          </p:cNvSpPr>
          <p:nvPr/>
        </p:nvSpPr>
        <p:spPr>
          <a:xfrm>
            <a:off x="819150" y="1085850"/>
            <a:ext cx="8953500" cy="28575"/>
          </a:xfrm>
          <a:prstGeom prst="rect">
            <a:avLst/>
          </a:prstGeom>
          <a:solidFill>
            <a:srgbClr val="CDAE58"/>
          </a:solidFill>
          <a:ln w="0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99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1793A2-3136-465E-8B61-C7DB27AF1BB9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3525" b="1">
                <a:solidFill>
                  <a:srgbClr val="14401F"/>
                </a:solidFill>
              </a:defRPr>
            </a:pPr>
            <a:r>
              <a:rPr sz="3525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مجال المشروع: إدارة خدمات الدعم التغذوي</a:t>
            </a:r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8C2804-E5EC-45E0-8B69-9BCA1740EEC8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0D37E5-C5C8-4B01-889A-D18FB047B6D7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ECDC86-36EE-469E-B8C7-9CE6F52A32FB}"/>
              </a:ext>
            </a:extLst>
          </p:cNvPr>
          <p:cNvSpPr>
            <a:spLocks noGrp="1"/>
          </p:cNvSpPr>
          <p:nvPr/>
        </p:nvSpPr>
        <p:spPr>
          <a:xfrm>
            <a:off x="777240" y="12344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700">
                <a:solidFill>
                  <a:srgbClr val="27332A"/>
                </a:solidFill>
                <a:latin typeface="Arial"/>
                <a:ea typeface="Arial"/>
                <a:cs typeface="Arial"/>
              </a:rPr>
              <a:t>يخدم البرنامج الأطفال والحوامل والمرضعات ضمن مسار يبدأ بالاستقبال والتحقق من الإحالة، ثم الفحص أو التقييم، وصولاً إلى التوعية والتسجيل والتسليم الشهري.</a:t>
            </a:r>
            <a:endParaRPr sz="17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2AE9B47-D2C1-4B1D-9241-8F57E24479BE}"/>
              </a:ext>
            </a:extLst>
          </p:cNvPr>
          <p:cNvSpPr>
            <a:spLocks noGrp="1"/>
          </p:cNvSpPr>
          <p:nvPr/>
        </p:nvSpPr>
        <p:spPr>
          <a:xfrm>
            <a:off x="8778240" y="23774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BE5F48-0864-4728-AF16-AC8C60FF6747}"/>
              </a:ext>
            </a:extLst>
          </p:cNvPr>
          <p:cNvSpPr>
            <a:spLocks noGrp="1"/>
          </p:cNvSpPr>
          <p:nvPr/>
        </p:nvSpPr>
        <p:spPr>
          <a:xfrm>
            <a:off x="9829800" y="2606040"/>
            <a:ext cx="548640" cy="548640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78DD767-FC35-4137-BDE1-CC0FBAF96DEF}"/>
              </a:ext>
            </a:extLst>
          </p:cNvPr>
          <p:cNvSpPr>
            <a:spLocks noGrp="1"/>
          </p:cNvSpPr>
          <p:nvPr/>
        </p:nvSpPr>
        <p:spPr>
          <a:xfrm>
            <a:off x="9829800" y="2606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7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C7B226A-FF5D-4B7C-BC87-4D33F425C999}"/>
              </a:ext>
            </a:extLst>
          </p:cNvPr>
          <p:cNvSpPr>
            <a:spLocks noGrp="1"/>
          </p:cNvSpPr>
          <p:nvPr/>
        </p:nvSpPr>
        <p:spPr>
          <a:xfrm>
            <a:off x="8915400" y="32918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مكتب المساعدة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BC263B2-E2B1-4777-ABE2-A3265724EAA1}"/>
              </a:ext>
            </a:extLst>
          </p:cNvPr>
          <p:cNvSpPr>
            <a:spLocks noGrp="1"/>
          </p:cNvSpPr>
          <p:nvPr/>
        </p:nvSpPr>
        <p:spPr>
          <a:xfrm>
            <a:off x="8961120" y="370332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A6B5C"/>
                </a:solidFill>
                <a:latin typeface="Arial"/>
                <a:ea typeface="Arial"/>
                <a:cs typeface="Arial"/>
              </a:rPr>
              <a:t>مراجعة البيانات والإحالة وتحديد مسار الحالة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5C6442B-9276-4872-9F1A-FC618CA5A37C}"/>
              </a:ext>
            </a:extLst>
          </p:cNvPr>
          <p:cNvSpPr>
            <a:spLocks noGrp="1"/>
          </p:cNvSpPr>
          <p:nvPr/>
        </p:nvSpPr>
        <p:spPr>
          <a:xfrm>
            <a:off x="5989320" y="23774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945B3BE-33F7-42A2-8881-69822FF68B6F}"/>
              </a:ext>
            </a:extLst>
          </p:cNvPr>
          <p:cNvSpPr>
            <a:spLocks noGrp="1"/>
          </p:cNvSpPr>
          <p:nvPr/>
        </p:nvSpPr>
        <p:spPr>
          <a:xfrm>
            <a:off x="7040880" y="2606040"/>
            <a:ext cx="548640" cy="548640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A4CC63B-07E5-4BE3-AD29-A9BEA587B6E1}"/>
              </a:ext>
            </a:extLst>
          </p:cNvPr>
          <p:cNvSpPr>
            <a:spLocks noGrp="1"/>
          </p:cNvSpPr>
          <p:nvPr/>
        </p:nvSpPr>
        <p:spPr>
          <a:xfrm>
            <a:off x="7040880" y="2606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7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456F62-195D-4441-8047-29769BB0FEA6}"/>
              </a:ext>
            </a:extLst>
          </p:cNvPr>
          <p:cNvSpPr>
            <a:spLocks noGrp="1"/>
          </p:cNvSpPr>
          <p:nvPr/>
        </p:nvSpPr>
        <p:spPr>
          <a:xfrm>
            <a:off x="6126480" y="32918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الفحص أو التقييم</a:t>
            </a:r>
            <a:endParaRPr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E8DBBB2-ECE5-4C5D-AA6C-D26879DC6C21}"/>
              </a:ext>
            </a:extLst>
          </p:cNvPr>
          <p:cNvSpPr>
            <a:spLocks noGrp="1"/>
          </p:cNvSpPr>
          <p:nvPr/>
        </p:nvSpPr>
        <p:spPr>
          <a:xfrm>
            <a:off x="6172200" y="370332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A6B5C"/>
                </a:solidFill>
                <a:latin typeface="Arial"/>
                <a:ea typeface="Arial"/>
                <a:cs typeface="Arial"/>
              </a:rPr>
              <a:t>مراجعة القياسات أو دراسة الاستحقاق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3D7A68D-2557-4534-B4D4-E17E4180C124}"/>
              </a:ext>
            </a:extLst>
          </p:cNvPr>
          <p:cNvSpPr>
            <a:spLocks noGrp="1"/>
          </p:cNvSpPr>
          <p:nvPr/>
        </p:nvSpPr>
        <p:spPr>
          <a:xfrm>
            <a:off x="3200400" y="23774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E6A9563-19E1-4F7C-906E-224BF3236823}"/>
              </a:ext>
            </a:extLst>
          </p:cNvPr>
          <p:cNvSpPr>
            <a:spLocks noGrp="1"/>
          </p:cNvSpPr>
          <p:nvPr/>
        </p:nvSpPr>
        <p:spPr>
          <a:xfrm>
            <a:off x="4251960" y="2606040"/>
            <a:ext cx="548640" cy="548640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5B326E9-FE01-41BF-9B0C-07FA8AAB6F71}"/>
              </a:ext>
            </a:extLst>
          </p:cNvPr>
          <p:cNvSpPr>
            <a:spLocks noGrp="1"/>
          </p:cNvSpPr>
          <p:nvPr/>
        </p:nvSpPr>
        <p:spPr>
          <a:xfrm>
            <a:off x="4251960" y="2606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7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9DF5482-72C7-45B3-A705-5042C15ABD25}"/>
              </a:ext>
            </a:extLst>
          </p:cNvPr>
          <p:cNvSpPr>
            <a:spLocks noGrp="1"/>
          </p:cNvSpPr>
          <p:nvPr/>
        </p:nvSpPr>
        <p:spPr>
          <a:xfrm>
            <a:off x="3337560" y="32918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التوعية والتسجيل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DE8C498-FB85-419F-AEC2-33AF6C6BEC6D}"/>
              </a:ext>
            </a:extLst>
          </p:cNvPr>
          <p:cNvSpPr>
            <a:spLocks noGrp="1"/>
          </p:cNvSpPr>
          <p:nvPr/>
        </p:nvSpPr>
        <p:spPr>
          <a:xfrm>
            <a:off x="3383280" y="370332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A6B5C"/>
                </a:solidFill>
                <a:latin typeface="Arial"/>
                <a:ea typeface="Arial"/>
                <a:cs typeface="Arial"/>
              </a:rPr>
              <a:t>جلسة توعية واستكمال الملف والوثائق</a:t>
            </a:r>
            <a:endParaRPr sz="12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5FC23D9-B725-4552-934E-B5718D193457}"/>
              </a:ext>
            </a:extLst>
          </p:cNvPr>
          <p:cNvSpPr>
            <a:spLocks noGrp="1"/>
          </p:cNvSpPr>
          <p:nvPr/>
        </p:nvSpPr>
        <p:spPr>
          <a:xfrm>
            <a:off x="411480" y="23774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CE7A320-CE6A-4F9C-9D73-7CB7239CF21C}"/>
              </a:ext>
            </a:extLst>
          </p:cNvPr>
          <p:cNvSpPr>
            <a:spLocks noGrp="1"/>
          </p:cNvSpPr>
          <p:nvPr/>
        </p:nvSpPr>
        <p:spPr>
          <a:xfrm>
            <a:off x="1463040" y="2606040"/>
            <a:ext cx="548640" cy="548640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EF26350-11BF-4CC2-BFB8-2A68DA913555}"/>
              </a:ext>
            </a:extLst>
          </p:cNvPr>
          <p:cNvSpPr>
            <a:spLocks noGrp="1"/>
          </p:cNvSpPr>
          <p:nvPr/>
        </p:nvSpPr>
        <p:spPr>
          <a:xfrm>
            <a:off x="1463040" y="2606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7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3AA9BF6-0854-472C-BC0B-D2401F330466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التسليم والمتابعة</a:t>
            </a:r>
            <a:endParaRPr sz="1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D7908A2-2F59-4165-BF34-1A55A37ADA4F}"/>
              </a:ext>
            </a:extLst>
          </p:cNvPr>
          <p:cNvSpPr>
            <a:spLocks noGrp="1"/>
          </p:cNvSpPr>
          <p:nvPr/>
        </p:nvSpPr>
        <p:spPr>
          <a:xfrm>
            <a:off x="594360" y="370332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A6B5C"/>
                </a:solidFill>
                <a:latin typeface="Arial"/>
                <a:ea typeface="Arial"/>
                <a:cs typeface="Arial"/>
              </a:rPr>
              <a:t>جدولة المساعدة وتوثيق الاستلام الشهري</a:t>
            </a:r>
            <a:endParaRPr sz="12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EFA09B7-1D0B-4736-8664-1621F2078D12}"/>
              </a:ext>
            </a:extLst>
          </p:cNvPr>
          <p:cNvSpPr>
            <a:spLocks noGrp="1"/>
          </p:cNvSpPr>
          <p:nvPr/>
        </p:nvSpPr>
        <p:spPr>
          <a:xfrm>
            <a:off x="777240" y="48006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 i="1">
                <a:solidFill>
                  <a:srgbClr val="5A6B5C"/>
                </a:solidFill>
                <a:latin typeface="Arial"/>
                <a:ea typeface="Arial"/>
                <a:cs typeface="Arial"/>
              </a:rPr>
              <a:t>رحلة المستفيد مترابطة بين الأقسام وتحتاج ملفاً واحداً قابلاً للتتبع</a:t>
            </a:r>
            <a:endParaRPr sz="13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45B06A3-CD4D-40E5-9E1E-A13A83B6E443}"/>
              </a:ext>
            </a:extLst>
          </p:cNvPr>
          <p:cNvSpPr>
            <a:spLocks noGrp="1"/>
          </p:cNvSpPr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أساس المتطلبات: 3 مقابلات ميدانية + استبيان موظفين (8) + استبيان عام (56).</a:t>
            </a:r>
            <a:endParaRPr sz="1500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rcRect l="341" r="341"/>
          <a:stretch>
            <a:fillRect/>
          </a:stretch>
        </p:blipFill>
        <p:spPr>
          <a:xfrm>
            <a:off x="76200" y="266700"/>
            <a:ext cx="438150" cy="419100"/>
          </a:xfrm>
          <a:prstGeom prst="ellipse">
            <a:avLst/>
          </a:prstGeom>
        </p:spPr>
      </p:pic>
      <p:sp>
        <p:nvSpPr>
          <p:cNvPr id="29" name="University gold footer 2">
            <a:extLst>
              <a:ext uri="{FF2B5EF4-FFF2-40B4-BE49-F238E27FC236}">
                <a16:creationId xmlns:a16="http://schemas.microsoft.com/office/drawing/2014/main" id="{C4BF96DD-FCF1-4F24-86E1-67AFBBD336C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11068050" cy="28575"/>
          </a:xfrm>
          <a:prstGeom prst="rect">
            <a:avLst/>
          </a:prstGeom>
          <a:solidFill>
            <a:srgbClr val="CDAE58"/>
          </a:solidFill>
          <a:ln w="0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12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16E2C7-2C20-4AE6-B420-138134A5AB92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3525" b="1">
                <a:solidFill>
                  <a:srgbClr val="14401F"/>
                </a:solidFill>
              </a:defRPr>
            </a:pPr>
            <a:r>
              <a:rPr sz="3525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المشكلة والحاجة: ما كشفه التحليل الميداني</a:t>
            </a:r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09D9F3-2033-484C-868E-13DE79D67632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7542F4-7A05-499A-83F2-80A30ECF2341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2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F76188-E277-48F5-9E0B-4FE9B5778D5F}"/>
              </a:ext>
            </a:extLst>
          </p:cNvPr>
          <p:cNvSpPr>
            <a:spLocks noGrp="1"/>
          </p:cNvSpPr>
          <p:nvPr/>
        </p:nvSpPr>
        <p:spPr>
          <a:xfrm>
            <a:off x="8915400" y="1325880"/>
            <a:ext cx="2578608" cy="1965960"/>
          </a:xfrm>
          <a:prstGeom prst="roundRect">
            <a:avLst>
              <a:gd name="adj" fmla="val 5581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23351E-FF40-4054-ADA4-5F1513E4EC44}"/>
              </a:ext>
            </a:extLst>
          </p:cNvPr>
          <p:cNvSpPr>
            <a:spLocks noGrp="1"/>
          </p:cNvSpPr>
          <p:nvPr/>
        </p:nvSpPr>
        <p:spPr>
          <a:xfrm>
            <a:off x="9006840" y="150876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57.1%</a:t>
            </a:r>
            <a:endParaRPr sz="3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36595E-3863-493E-94B4-7F8BC5A12796}"/>
              </a:ext>
            </a:extLst>
          </p:cNvPr>
          <p:cNvSpPr>
            <a:spLocks noGrp="1"/>
          </p:cNvSpPr>
          <p:nvPr/>
        </p:nvSpPr>
        <p:spPr>
          <a:xfrm>
            <a:off x="9098280" y="224028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A6B5C"/>
                </a:solidFill>
                <a:latin typeface="Arial"/>
                <a:ea typeface="Arial"/>
                <a:cs typeface="Arial"/>
              </a:rPr>
              <a:t>رأوا تكرار الشخص بأسماء مختلفة أكبر مشكلة بيانات (4 من 7)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2AA934-6497-4801-B77C-B24654338DCB}"/>
              </a:ext>
            </a:extLst>
          </p:cNvPr>
          <p:cNvSpPr>
            <a:spLocks noGrp="1"/>
          </p:cNvSpPr>
          <p:nvPr/>
        </p:nvSpPr>
        <p:spPr>
          <a:xfrm>
            <a:off x="6153912" y="1325880"/>
            <a:ext cx="2578608" cy="1965960"/>
          </a:xfrm>
          <a:prstGeom prst="roundRect">
            <a:avLst>
              <a:gd name="adj" fmla="val 5581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68E480A-72EC-4FB6-9363-F9728562A276}"/>
              </a:ext>
            </a:extLst>
          </p:cNvPr>
          <p:cNvSpPr>
            <a:spLocks noGrp="1"/>
          </p:cNvSpPr>
          <p:nvPr/>
        </p:nvSpPr>
        <p:spPr>
          <a:xfrm>
            <a:off x="6245352" y="150876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62.5%</a:t>
            </a:r>
            <a:endParaRPr sz="3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26A9E33-7590-43CB-B075-53D222ACE398}"/>
              </a:ext>
            </a:extLst>
          </p:cNvPr>
          <p:cNvSpPr>
            <a:spLocks noGrp="1"/>
          </p:cNvSpPr>
          <p:nvPr/>
        </p:nvSpPr>
        <p:spPr>
          <a:xfrm>
            <a:off x="6336792" y="224028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A6B5C"/>
                </a:solidFill>
                <a:latin typeface="Arial"/>
                <a:ea typeface="Arial"/>
                <a:cs typeface="Arial"/>
              </a:rPr>
              <a:t>يدخلون البيانات نفسها غالباً أو دائماً في أماكن مختلفة (5 من 8)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A9B71F0-1928-4806-ADF0-85FABC18F0BF}"/>
              </a:ext>
            </a:extLst>
          </p:cNvPr>
          <p:cNvSpPr>
            <a:spLocks noGrp="1"/>
          </p:cNvSpPr>
          <p:nvPr/>
        </p:nvSpPr>
        <p:spPr>
          <a:xfrm>
            <a:off x="3392424" y="1325880"/>
            <a:ext cx="2578608" cy="1965960"/>
          </a:xfrm>
          <a:prstGeom prst="roundRect">
            <a:avLst>
              <a:gd name="adj" fmla="val 5581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1A16EC5-EFE0-4712-86A7-FEEF7F638CEA}"/>
              </a:ext>
            </a:extLst>
          </p:cNvPr>
          <p:cNvSpPr>
            <a:spLocks noGrp="1"/>
          </p:cNvSpPr>
          <p:nvPr/>
        </p:nvSpPr>
        <p:spPr>
          <a:xfrm>
            <a:off x="3483864" y="150876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62.5%</a:t>
            </a:r>
            <a:endParaRPr sz="3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A4848E6-A2AA-45A6-910B-EF522CF12954}"/>
              </a:ext>
            </a:extLst>
          </p:cNvPr>
          <p:cNvSpPr>
            <a:spLocks noGrp="1"/>
          </p:cNvSpPr>
          <p:nvPr/>
        </p:nvSpPr>
        <p:spPr>
          <a:xfrm>
            <a:off x="3575304" y="224028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A6B5C"/>
                </a:solidFill>
                <a:latin typeface="Arial"/>
                <a:ea typeface="Arial"/>
                <a:cs typeface="Arial"/>
              </a:rPr>
              <a:t>عدّوا تأخر الاستجابة أو وصول المستحقات الشكوى الأكثر شيوعاً (5 من 8)</a:t>
            </a:r>
            <a:endParaRPr sz="1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FD9F0CB-E86F-4E3F-B00E-E500654D5C37}"/>
              </a:ext>
            </a:extLst>
          </p:cNvPr>
          <p:cNvSpPr>
            <a:spLocks noGrp="1"/>
          </p:cNvSpPr>
          <p:nvPr/>
        </p:nvSpPr>
        <p:spPr>
          <a:xfrm>
            <a:off x="630936" y="1325880"/>
            <a:ext cx="2578608" cy="1965960"/>
          </a:xfrm>
          <a:prstGeom prst="roundRect">
            <a:avLst>
              <a:gd name="adj" fmla="val 5581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866EE9D-ACAB-4CA8-AA75-126258709257}"/>
              </a:ext>
            </a:extLst>
          </p:cNvPr>
          <p:cNvSpPr>
            <a:spLocks noGrp="1"/>
          </p:cNvSpPr>
          <p:nvPr/>
        </p:nvSpPr>
        <p:spPr>
          <a:xfrm>
            <a:off x="722376" y="150876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87.5%</a:t>
            </a:r>
            <a:endParaRPr sz="3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221D756-A788-480E-B03C-00D04C531CED}"/>
              </a:ext>
            </a:extLst>
          </p:cNvPr>
          <p:cNvSpPr>
            <a:spLocks noGrp="1"/>
          </p:cNvSpPr>
          <p:nvPr/>
        </p:nvSpPr>
        <p:spPr>
          <a:xfrm>
            <a:off x="813816" y="224028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A6B5C"/>
                </a:solidFill>
                <a:latin typeface="Arial"/>
                <a:ea typeface="Arial"/>
                <a:cs typeface="Arial"/>
              </a:rPr>
              <a:t>يرون وجود موقع إلكتروني متكامل ضرورياً جداً (7 من 8)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AB855D1-BBD8-4054-A137-CF98EE38BC13}"/>
              </a:ext>
            </a:extLst>
          </p:cNvPr>
          <p:cNvSpPr>
            <a:spLocks noGrp="1"/>
          </p:cNvSpPr>
          <p:nvPr/>
        </p:nvSpPr>
        <p:spPr>
          <a:xfrm>
            <a:off x="777240" y="34747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8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الاستنتاج التشغيلي من المقابلات والاستبيان</a:t>
            </a:r>
            <a:endParaRPr sz="18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23DDBC5-6997-43E0-96FE-C3A2A9C74D19}"/>
              </a:ext>
            </a:extLst>
          </p:cNvPr>
          <p:cNvSpPr>
            <a:spLocks noGrp="1"/>
          </p:cNvSpPr>
          <p:nvPr/>
        </p:nvSpPr>
        <p:spPr>
          <a:xfrm>
            <a:off x="777240" y="3931920"/>
            <a:ext cx="10607040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 algn="r">
              <a:spcAft>
                <a:spcPts val="1000"/>
              </a:spcAft>
              <a:buSzPct val="100000"/>
              <a:buChar char="●"/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دورة بيانات ورقية تنتقل بين الأقسام: بطء في الخدمة واحتمال خطأ مرتفع.</a:t>
            </a:r>
            <a:endParaRPr sz="1500"/>
          </a:p>
          <a:p>
            <a:pPr marL="342900" indent="-342900" algn="r">
              <a:spcAft>
                <a:spcPts val="1000"/>
              </a:spcAft>
              <a:buSzPct val="100000"/>
              <a:buChar char="●"/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ازدواجية الإدخال: البيانات نفسها تُدخل لسجلات المركز ولجهة الدعم.</a:t>
            </a:r>
            <a:endParaRPr sz="1500"/>
          </a:p>
          <a:p>
            <a:pPr marL="342900" indent="-342900" algn="r">
              <a:spcAft>
                <a:spcPts val="1000"/>
              </a:spcAft>
              <a:buSzPct val="100000"/>
              <a:buChar char="●"/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غياب وسيلة إشعار موثوقة تُعلم المستفيد بموعد استلامه.</a:t>
            </a:r>
            <a:endParaRPr sz="1500"/>
          </a:p>
          <a:p>
            <a:pPr marL="342900" indent="-342900" algn="r">
              <a:spcAft>
                <a:spcPts val="1000"/>
              </a:spcAft>
              <a:buSzPct val="100000"/>
              <a:buChar char="●"/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لا قناة منظمة لاستقبال الشكاوى وتوثيق الردود عليها.</a:t>
            </a:r>
            <a:endParaRPr sz="1500"/>
          </a:p>
          <a:p>
            <a:pPr marL="342900" indent="-342900" algn="r">
              <a:spcAft>
                <a:spcPts val="1000"/>
              </a:spcAft>
              <a:buSzPct val="100000"/>
              <a:buChar char="●"/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التحقق من هوية المستلم يدوي، ما يفتح باب التكرار أو الاستلام بدلاً عن الغير.</a:t>
            </a:r>
            <a:endParaRPr sz="150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rcRect l="341" r="341"/>
          <a:stretch>
            <a:fillRect/>
          </a:stretch>
        </p:blipFill>
        <p:spPr>
          <a:xfrm>
            <a:off x="76200" y="266700"/>
            <a:ext cx="438150" cy="419100"/>
          </a:xfrm>
          <a:prstGeom prst="ellipse">
            <a:avLst/>
          </a:prstGeom>
        </p:spPr>
      </p:pic>
      <p:sp>
        <p:nvSpPr>
          <p:cNvPr id="20" name="University gold footer 3">
            <a:extLst>
              <a:ext uri="{FF2B5EF4-FFF2-40B4-BE49-F238E27FC236}">
                <a16:creationId xmlns:a16="http://schemas.microsoft.com/office/drawing/2014/main" id="{EF2E9D41-FC5A-47FF-AB31-96BA4E02AD0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11068050" cy="28575"/>
          </a:xfrm>
          <a:prstGeom prst="rect">
            <a:avLst/>
          </a:prstGeom>
          <a:solidFill>
            <a:srgbClr val="CDAE58"/>
          </a:solidFill>
          <a:ln w="0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77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00F58E-A54D-441F-B09F-922B61CE849A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3525" b="1">
                <a:solidFill>
                  <a:srgbClr val="14401F"/>
                </a:solidFill>
              </a:defRPr>
            </a:pPr>
            <a:r>
              <a:rPr sz="3525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الحل المقترح: منصة موحّدة حسب الأدوار</a:t>
            </a:r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6813F9-990E-4A84-9840-F38B16F63EAD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A2F3D0-0068-43CF-B0BC-F796D9CA624C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F8A055-8552-4E2F-B422-4CDF3BF1B1AC}"/>
              </a:ext>
            </a:extLst>
          </p:cNvPr>
          <p:cNvSpPr>
            <a:spLocks noGrp="1"/>
          </p:cNvSpPr>
          <p:nvPr/>
        </p:nvSpPr>
        <p:spPr>
          <a:xfrm>
            <a:off x="777240" y="118872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700">
                <a:solidFill>
                  <a:srgbClr val="27332A"/>
                </a:solidFill>
                <a:latin typeface="Arial"/>
                <a:ea typeface="Arial"/>
                <a:cs typeface="Arial"/>
              </a:rPr>
              <a:t>تطبيق ويب يربط واجهة Next.js بواجهة REST في Django وقاعدة بيانات مركزية، مع مصادقة JWT وصلاحيات محددة لكل دور.</a:t>
            </a:r>
            <a:endParaRPr sz="17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4758B94-6EC7-4EFD-B738-F0E03545529F}"/>
              </a:ext>
            </a:extLst>
          </p:cNvPr>
          <p:cNvSpPr>
            <a:spLocks noGrp="1"/>
          </p:cNvSpPr>
          <p:nvPr/>
        </p:nvSpPr>
        <p:spPr>
          <a:xfrm>
            <a:off x="8183880" y="214884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179A29-CAB6-47EC-B957-4CE8C2092860}"/>
              </a:ext>
            </a:extLst>
          </p:cNvPr>
          <p:cNvSpPr>
            <a:spLocks noGrp="1"/>
          </p:cNvSpPr>
          <p:nvPr/>
        </p:nvSpPr>
        <p:spPr>
          <a:xfrm>
            <a:off x="8412480" y="235000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7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الزائر</a:t>
            </a:r>
            <a:endParaRPr sz="17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E3CC487-D339-496F-9370-F98FE96B7546}"/>
              </a:ext>
            </a:extLst>
          </p:cNvPr>
          <p:cNvSpPr>
            <a:spLocks noGrp="1"/>
          </p:cNvSpPr>
          <p:nvPr/>
        </p:nvSpPr>
        <p:spPr>
          <a:xfrm>
            <a:off x="8412480" y="280720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تصفح المقالات والخدمات دون تسجيل دخول</a:t>
            </a:r>
            <a:endParaRPr sz="13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D6D1E36-C641-4528-AD79-135065190CF3}"/>
              </a:ext>
            </a:extLst>
          </p:cNvPr>
          <p:cNvSpPr>
            <a:spLocks noGrp="1"/>
          </p:cNvSpPr>
          <p:nvPr/>
        </p:nvSpPr>
        <p:spPr>
          <a:xfrm>
            <a:off x="4498848" y="214884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3C1EB2-5D6E-4AF5-804D-7B9AA1283E25}"/>
              </a:ext>
            </a:extLst>
          </p:cNvPr>
          <p:cNvSpPr>
            <a:spLocks noGrp="1"/>
          </p:cNvSpPr>
          <p:nvPr/>
        </p:nvSpPr>
        <p:spPr>
          <a:xfrm>
            <a:off x="4727448" y="235000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7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المستفيد</a:t>
            </a:r>
            <a:endParaRPr sz="17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63C64C0-006D-4759-9B34-6885316AC330}"/>
              </a:ext>
            </a:extLst>
          </p:cNvPr>
          <p:cNvSpPr>
            <a:spLocks noGrp="1"/>
          </p:cNvSpPr>
          <p:nvPr/>
        </p:nvSpPr>
        <p:spPr>
          <a:xfrm>
            <a:off x="4727448" y="280720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ملفه وإشعاراته ومواعيده وشكاواه وسجل مساعداته</a:t>
            </a:r>
            <a:endParaRPr sz="13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F77D04E-D33F-41C5-8280-1DB8B7EAD804}"/>
              </a:ext>
            </a:extLst>
          </p:cNvPr>
          <p:cNvSpPr>
            <a:spLocks noGrp="1"/>
          </p:cNvSpPr>
          <p:nvPr/>
        </p:nvSpPr>
        <p:spPr>
          <a:xfrm>
            <a:off x="813816" y="214884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6FB0A16-3C2D-4C1E-A541-793AD4E61151}"/>
              </a:ext>
            </a:extLst>
          </p:cNvPr>
          <p:cNvSpPr>
            <a:spLocks noGrp="1"/>
          </p:cNvSpPr>
          <p:nvPr/>
        </p:nvSpPr>
        <p:spPr>
          <a:xfrm>
            <a:off x="1042416" y="235000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7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موظف التسجيل</a:t>
            </a:r>
            <a:endParaRPr sz="17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1EE297A-ACCD-49B6-9F1D-2640602FB4A8}"/>
              </a:ext>
            </a:extLst>
          </p:cNvPr>
          <p:cNvSpPr>
            <a:spLocks noGrp="1"/>
          </p:cNvSpPr>
          <p:nvPr/>
        </p:nvSpPr>
        <p:spPr>
          <a:xfrm>
            <a:off x="1042416" y="280720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إنشاء حساب المستفيد وحفظ بياناته وصورته</a:t>
            </a:r>
            <a:endParaRPr sz="13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1C1B6B7-0C99-494C-A87C-1A5F1C70972D}"/>
              </a:ext>
            </a:extLst>
          </p:cNvPr>
          <p:cNvSpPr>
            <a:spLocks noGrp="1"/>
          </p:cNvSpPr>
          <p:nvPr/>
        </p:nvSpPr>
        <p:spPr>
          <a:xfrm>
            <a:off x="8183880" y="384048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CA42574-9943-43E0-93E1-B5BB4B5FA9E0}"/>
              </a:ext>
            </a:extLst>
          </p:cNvPr>
          <p:cNvSpPr>
            <a:spLocks noGrp="1"/>
          </p:cNvSpPr>
          <p:nvPr/>
        </p:nvSpPr>
        <p:spPr>
          <a:xfrm>
            <a:off x="8412480" y="404164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7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موظف التوعية والتسليم</a:t>
            </a:r>
            <a:endParaRPr sz="17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1F7D028-87AA-4996-86DD-2FD65D7B20EB}"/>
              </a:ext>
            </a:extLst>
          </p:cNvPr>
          <p:cNvSpPr>
            <a:spLocks noGrp="1"/>
          </p:cNvSpPr>
          <p:nvPr/>
        </p:nvSpPr>
        <p:spPr>
          <a:xfrm>
            <a:off x="8412480" y="449884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المقالات والجدولة والتحقق من الوجه وتأكيد التسليم</a:t>
            </a:r>
            <a:endParaRPr sz="13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4DD421D-B8AC-45D3-B426-0718509A7422}"/>
              </a:ext>
            </a:extLst>
          </p:cNvPr>
          <p:cNvSpPr>
            <a:spLocks noGrp="1"/>
          </p:cNvSpPr>
          <p:nvPr/>
        </p:nvSpPr>
        <p:spPr>
          <a:xfrm>
            <a:off x="4498848" y="384048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A0518F4-818C-4E00-9CA8-7794B2668CCE}"/>
              </a:ext>
            </a:extLst>
          </p:cNvPr>
          <p:cNvSpPr>
            <a:spLocks noGrp="1"/>
          </p:cNvSpPr>
          <p:nvPr/>
        </p:nvSpPr>
        <p:spPr>
          <a:xfrm>
            <a:off x="4727448" y="404164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7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موظف مكتب المساعدة</a:t>
            </a:r>
            <a:endParaRPr sz="17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2B4CF15-8873-49E9-B089-3211E20DE1CD}"/>
              </a:ext>
            </a:extLst>
          </p:cNvPr>
          <p:cNvSpPr>
            <a:spLocks noGrp="1"/>
          </p:cNvSpPr>
          <p:nvPr/>
        </p:nvSpPr>
        <p:spPr>
          <a:xfrm>
            <a:off x="4727448" y="449884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متابعة الشكاوى والرد عليها</a:t>
            </a:r>
            <a:endParaRPr sz="13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F9AE23B-5F31-442E-9339-367C6DA6212E}"/>
              </a:ext>
            </a:extLst>
          </p:cNvPr>
          <p:cNvSpPr>
            <a:spLocks noGrp="1"/>
          </p:cNvSpPr>
          <p:nvPr/>
        </p:nvSpPr>
        <p:spPr>
          <a:xfrm>
            <a:off x="813816" y="384048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F5A3932-5424-47E8-B9B4-872503C97403}"/>
              </a:ext>
            </a:extLst>
          </p:cNvPr>
          <p:cNvSpPr>
            <a:spLocks noGrp="1"/>
          </p:cNvSpPr>
          <p:nvPr/>
        </p:nvSpPr>
        <p:spPr>
          <a:xfrm>
            <a:off x="1042416" y="404164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70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المدير</a:t>
            </a:r>
            <a:endParaRPr sz="17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47B96AC-1C2F-4679-A449-0C86D0F3BBDE}"/>
              </a:ext>
            </a:extLst>
          </p:cNvPr>
          <p:cNvSpPr>
            <a:spLocks noGrp="1"/>
          </p:cNvSpPr>
          <p:nvPr/>
        </p:nvSpPr>
        <p:spPr>
          <a:xfrm>
            <a:off x="1042416" y="449884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إدارة الموظفين والصلاحيات ولوحة الإدارة</a:t>
            </a:r>
            <a:endParaRPr sz="13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2DAE6B7-7A90-49D2-954D-F1F53348459B}"/>
              </a:ext>
            </a:extLst>
          </p:cNvPr>
          <p:cNvSpPr>
            <a:spLocks noGrp="1"/>
          </p:cNvSpPr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00" i="1">
                <a:solidFill>
                  <a:srgbClr val="5A6B5C"/>
                </a:solidFill>
                <a:latin typeface="Arial"/>
                <a:ea typeface="Arial"/>
                <a:cs typeface="Arial"/>
              </a:rPr>
              <a:t>النتيجة: دورة خدمة واحدة تبدأ بالتسجيل وتنتهي بتسليم موثّق وقابل للمراجعة.</a:t>
            </a:r>
            <a:endParaRPr sz="1400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rcRect l="341" r="341"/>
          <a:stretch>
            <a:fillRect/>
          </a:stretch>
        </p:blipFill>
        <p:spPr>
          <a:xfrm>
            <a:off x="76200" y="266700"/>
            <a:ext cx="438150" cy="419100"/>
          </a:xfrm>
          <a:prstGeom prst="ellipse">
            <a:avLst/>
          </a:prstGeom>
        </p:spPr>
      </p:pic>
      <p:sp>
        <p:nvSpPr>
          <p:cNvPr id="26" name="University gold footer 4">
            <a:extLst>
              <a:ext uri="{FF2B5EF4-FFF2-40B4-BE49-F238E27FC236}">
                <a16:creationId xmlns:a16="http://schemas.microsoft.com/office/drawing/2014/main" id="{51F56217-B2EF-487F-897A-F90ED28F5AD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11068050" cy="28575"/>
          </a:xfrm>
          <a:prstGeom prst="rect">
            <a:avLst/>
          </a:prstGeom>
          <a:solidFill>
            <a:srgbClr val="CDAE58"/>
          </a:solidFill>
          <a:ln w="0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66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B11951-6E00-41B9-B6F4-4A57AB2E5751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3525" b="1">
                <a:solidFill>
                  <a:srgbClr val="14401F"/>
                </a:solidFill>
              </a:defRPr>
            </a:pPr>
            <a:r>
              <a:rPr sz="3525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المتطلبات الوظيفية وغير الوظيفية</a:t>
            </a:r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372A2E-6DA0-4A36-AB6D-1662380D8D3A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FDD444-60EE-41ED-9C80-C240CDFA5AC7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2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83F0560-7765-447C-B692-AC8CBBDCD562}"/>
              </a:ext>
            </a:extLst>
          </p:cNvPr>
          <p:cNvSpPr>
            <a:spLocks noGrp="1"/>
          </p:cNvSpPr>
          <p:nvPr/>
        </p:nvSpPr>
        <p:spPr>
          <a:xfrm>
            <a:off x="6355080" y="141732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6CC9074-F8D9-4B31-B982-FD079F4C8216}"/>
              </a:ext>
            </a:extLst>
          </p:cNvPr>
          <p:cNvSpPr>
            <a:spLocks noGrp="1"/>
          </p:cNvSpPr>
          <p:nvPr/>
        </p:nvSpPr>
        <p:spPr>
          <a:xfrm>
            <a:off x="10671048" y="1874520"/>
            <a:ext cx="475488" cy="475488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D10DFB9-2454-4468-A1B7-671777D239D5}"/>
              </a:ext>
            </a:extLst>
          </p:cNvPr>
          <p:cNvSpPr>
            <a:spLocks noGrp="1"/>
          </p:cNvSpPr>
          <p:nvPr/>
        </p:nvSpPr>
        <p:spPr>
          <a:xfrm>
            <a:off x="10671048" y="18745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5509A55-62E6-43E8-AC1C-4A79B3EAC9FB}"/>
              </a:ext>
            </a:extLst>
          </p:cNvPr>
          <p:cNvSpPr>
            <a:spLocks noGrp="1"/>
          </p:cNvSpPr>
          <p:nvPr/>
        </p:nvSpPr>
        <p:spPr>
          <a:xfrm>
            <a:off x="6629400" y="1618488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وظيفي | الحسابات</a:t>
            </a:r>
            <a:endParaRPr sz="16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EB7CC14-6984-4CD1-98A7-CFA1AC8EEF1C}"/>
              </a:ext>
            </a:extLst>
          </p:cNvPr>
          <p:cNvSpPr>
            <a:spLocks noGrp="1"/>
          </p:cNvSpPr>
          <p:nvPr/>
        </p:nvSpPr>
        <p:spPr>
          <a:xfrm>
            <a:off x="6629400" y="2039112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تسجيل الدخول، تحديث الرموز، الخروج واستعادة كلمة المرور</a:t>
            </a:r>
            <a:endParaRPr sz="13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86BB145-F757-430E-ABFF-BBAD2D4CD179}"/>
              </a:ext>
            </a:extLst>
          </p:cNvPr>
          <p:cNvSpPr>
            <a:spLocks noGrp="1"/>
          </p:cNvSpPr>
          <p:nvPr/>
        </p:nvSpPr>
        <p:spPr>
          <a:xfrm>
            <a:off x="777240" y="141732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C137295-2EC1-4FAC-93D6-4EFC5C7F792D}"/>
              </a:ext>
            </a:extLst>
          </p:cNvPr>
          <p:cNvSpPr>
            <a:spLocks noGrp="1"/>
          </p:cNvSpPr>
          <p:nvPr/>
        </p:nvSpPr>
        <p:spPr>
          <a:xfrm>
            <a:off x="5093208" y="1874520"/>
            <a:ext cx="475488" cy="475488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5CD5413-0CF4-46EC-9BD2-6CA81EFFB73B}"/>
              </a:ext>
            </a:extLst>
          </p:cNvPr>
          <p:cNvSpPr>
            <a:spLocks noGrp="1"/>
          </p:cNvSpPr>
          <p:nvPr/>
        </p:nvSpPr>
        <p:spPr>
          <a:xfrm>
            <a:off x="5093208" y="18745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6898A99-6A48-4355-A527-5D967E4E1E23}"/>
              </a:ext>
            </a:extLst>
          </p:cNvPr>
          <p:cNvSpPr>
            <a:spLocks noGrp="1"/>
          </p:cNvSpPr>
          <p:nvPr/>
        </p:nvSpPr>
        <p:spPr>
          <a:xfrm>
            <a:off x="1051560" y="1618488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وظيفي | المستفيدون</a:t>
            </a:r>
            <a:endParaRPr sz="16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604D39A-D3CC-4FAC-AA9E-06EA5A6A7986}"/>
              </a:ext>
            </a:extLst>
          </p:cNvPr>
          <p:cNvSpPr>
            <a:spLocks noGrp="1"/>
          </p:cNvSpPr>
          <p:nvPr/>
        </p:nvSpPr>
        <p:spPr>
          <a:xfrm>
            <a:off x="1051560" y="2039112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إنشاء الملف، حساب BMI، وحفظ الصورة والبيانات الصحية</a:t>
            </a:r>
            <a:endParaRPr sz="13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DBE7B6F-F6EF-4E29-8FFF-3FCEC1B7CA64}"/>
              </a:ext>
            </a:extLst>
          </p:cNvPr>
          <p:cNvSpPr>
            <a:spLocks noGrp="1"/>
          </p:cNvSpPr>
          <p:nvPr/>
        </p:nvSpPr>
        <p:spPr>
          <a:xfrm>
            <a:off x="6355080" y="306324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CEA1541-BA8A-494E-A8FC-D58FFB5F354B}"/>
              </a:ext>
            </a:extLst>
          </p:cNvPr>
          <p:cNvSpPr>
            <a:spLocks noGrp="1"/>
          </p:cNvSpPr>
          <p:nvPr/>
        </p:nvSpPr>
        <p:spPr>
          <a:xfrm>
            <a:off x="10671048" y="3520440"/>
            <a:ext cx="475488" cy="475488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4A1FBEE-D501-41F0-8B2C-8C0C0A9BF725}"/>
              </a:ext>
            </a:extLst>
          </p:cNvPr>
          <p:cNvSpPr>
            <a:spLocks noGrp="1"/>
          </p:cNvSpPr>
          <p:nvPr/>
        </p:nvSpPr>
        <p:spPr>
          <a:xfrm>
            <a:off x="10671048" y="352044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5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0F0254A-E147-428F-A6E7-599F77B52122}"/>
              </a:ext>
            </a:extLst>
          </p:cNvPr>
          <p:cNvSpPr>
            <a:spLocks noGrp="1"/>
          </p:cNvSpPr>
          <p:nvPr/>
        </p:nvSpPr>
        <p:spPr>
          <a:xfrm>
            <a:off x="6629400" y="3264408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وظيفي | المساعدات</a:t>
            </a:r>
            <a:endParaRPr sz="16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5FE339C-5260-4F7F-B21E-2B1F70FB3D43}"/>
              </a:ext>
            </a:extLst>
          </p:cNvPr>
          <p:cNvSpPr>
            <a:spLocks noGrp="1"/>
          </p:cNvSpPr>
          <p:nvPr/>
        </p:nvSpPr>
        <p:spPr>
          <a:xfrm>
            <a:off x="6629400" y="3685032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الجدولة، الإشعارات، التحقق من الوجه، وتأكيد التسليم</a:t>
            </a:r>
            <a:endParaRPr sz="13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69FEB8A-3B59-485B-A5F1-C7FFE0BF6DB5}"/>
              </a:ext>
            </a:extLst>
          </p:cNvPr>
          <p:cNvSpPr>
            <a:spLocks noGrp="1"/>
          </p:cNvSpPr>
          <p:nvPr/>
        </p:nvSpPr>
        <p:spPr>
          <a:xfrm>
            <a:off x="777240" y="306324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9025B01-1BEF-4576-9E8B-2849291429C2}"/>
              </a:ext>
            </a:extLst>
          </p:cNvPr>
          <p:cNvSpPr>
            <a:spLocks noGrp="1"/>
          </p:cNvSpPr>
          <p:nvPr/>
        </p:nvSpPr>
        <p:spPr>
          <a:xfrm>
            <a:off x="5093208" y="3520440"/>
            <a:ext cx="475488" cy="475488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FE345FE-E23F-4056-8DDB-061ADA7D9FFA}"/>
              </a:ext>
            </a:extLst>
          </p:cNvPr>
          <p:cNvSpPr>
            <a:spLocks noGrp="1"/>
          </p:cNvSpPr>
          <p:nvPr/>
        </p:nvSpPr>
        <p:spPr>
          <a:xfrm>
            <a:off x="5093208" y="352044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5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02629A7-ED41-43DD-AA7C-48216DE7285E}"/>
              </a:ext>
            </a:extLst>
          </p:cNvPr>
          <p:cNvSpPr>
            <a:spLocks noGrp="1"/>
          </p:cNvSpPr>
          <p:nvPr/>
        </p:nvSpPr>
        <p:spPr>
          <a:xfrm>
            <a:off x="1051560" y="3264408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غير وظيفي | الأمن</a:t>
            </a:r>
            <a:endParaRPr sz="16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479D9CB-931E-4589-80EB-FAF9F24C2114}"/>
              </a:ext>
            </a:extLst>
          </p:cNvPr>
          <p:cNvSpPr>
            <a:spLocks noGrp="1"/>
          </p:cNvSpPr>
          <p:nvPr/>
        </p:nvSpPr>
        <p:spPr>
          <a:xfrm>
            <a:off x="1051560" y="3685032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JWT وصلاحيات حسب الدور وعزل بيانات كل مستخدم</a:t>
            </a:r>
            <a:endParaRPr sz="13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9594AF7-B471-4B6F-9FF8-C3D5E8F80075}"/>
              </a:ext>
            </a:extLst>
          </p:cNvPr>
          <p:cNvSpPr>
            <a:spLocks noGrp="1"/>
          </p:cNvSpPr>
          <p:nvPr/>
        </p:nvSpPr>
        <p:spPr>
          <a:xfrm>
            <a:off x="6355080" y="470916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9179438-6E91-45C4-8B87-269E94EA177C}"/>
              </a:ext>
            </a:extLst>
          </p:cNvPr>
          <p:cNvSpPr>
            <a:spLocks noGrp="1"/>
          </p:cNvSpPr>
          <p:nvPr/>
        </p:nvSpPr>
        <p:spPr>
          <a:xfrm>
            <a:off x="10671048" y="5166360"/>
            <a:ext cx="475488" cy="475488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A87F36F-4BF0-46A4-9BBB-DBB0D2CBCEDB}"/>
              </a:ext>
            </a:extLst>
          </p:cNvPr>
          <p:cNvSpPr>
            <a:spLocks noGrp="1"/>
          </p:cNvSpPr>
          <p:nvPr/>
        </p:nvSpPr>
        <p:spPr>
          <a:xfrm>
            <a:off x="10671048" y="51663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5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BFD2079-39C0-481B-8B0A-7870E4D5B074}"/>
              </a:ext>
            </a:extLst>
          </p:cNvPr>
          <p:cNvSpPr>
            <a:spLocks noGrp="1"/>
          </p:cNvSpPr>
          <p:nvPr/>
        </p:nvSpPr>
        <p:spPr>
          <a:xfrm>
            <a:off x="6629400" y="4910328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غير وظيفي | الأداء</a:t>
            </a:r>
            <a:endParaRPr sz="16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B096012-EDBC-4A70-87ED-6ED8A4986929}"/>
              </a:ext>
            </a:extLst>
          </p:cNvPr>
          <p:cNvSpPr>
            <a:spLocks noGrp="1"/>
          </p:cNvSpPr>
          <p:nvPr/>
        </p:nvSpPr>
        <p:spPr>
          <a:xfrm>
            <a:off x="6629400" y="5330952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ترقيم النتائج وفهارس قاعدة البيانات ومعاملات ذرّية</a:t>
            </a:r>
            <a:endParaRPr sz="13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48A7C84-A208-41B4-98B5-834BE1823D03}"/>
              </a:ext>
            </a:extLst>
          </p:cNvPr>
          <p:cNvSpPr>
            <a:spLocks noGrp="1"/>
          </p:cNvSpPr>
          <p:nvPr/>
        </p:nvSpPr>
        <p:spPr>
          <a:xfrm>
            <a:off x="777240" y="470916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57B0066-CCBF-4E89-9C11-FC9F1AD64A0E}"/>
              </a:ext>
            </a:extLst>
          </p:cNvPr>
          <p:cNvSpPr>
            <a:spLocks noGrp="1"/>
          </p:cNvSpPr>
          <p:nvPr/>
        </p:nvSpPr>
        <p:spPr>
          <a:xfrm>
            <a:off x="5093208" y="5166360"/>
            <a:ext cx="475488" cy="475488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3EF5229-06E8-4166-815D-D8D543BCF01C}"/>
              </a:ext>
            </a:extLst>
          </p:cNvPr>
          <p:cNvSpPr>
            <a:spLocks noGrp="1"/>
          </p:cNvSpPr>
          <p:nvPr/>
        </p:nvSpPr>
        <p:spPr>
          <a:xfrm>
            <a:off x="5093208" y="51663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15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B32F17E-9BFA-4958-8DEF-3D7F62CB995D}"/>
              </a:ext>
            </a:extLst>
          </p:cNvPr>
          <p:cNvSpPr>
            <a:spLocks noGrp="1"/>
          </p:cNvSpPr>
          <p:nvPr/>
        </p:nvSpPr>
        <p:spPr>
          <a:xfrm>
            <a:off x="1051560" y="4910328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غير وظيفي | سهولة الاستخدام</a:t>
            </a:r>
            <a:endParaRPr sz="165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AE5EACF-5C10-4F7E-9320-A323EAE02C06}"/>
              </a:ext>
            </a:extLst>
          </p:cNvPr>
          <p:cNvSpPr>
            <a:spLocks noGrp="1"/>
          </p:cNvSpPr>
          <p:nvPr/>
        </p:nvSpPr>
        <p:spPr>
          <a:xfrm>
            <a:off x="1051560" y="5330952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00">
                <a:solidFill>
                  <a:srgbClr val="5A6B5C"/>
                </a:solidFill>
                <a:latin typeface="Arial"/>
                <a:ea typeface="Arial"/>
                <a:cs typeface="Arial"/>
              </a:rPr>
              <a:t>واجهة ويب متجاوبة، دعم RTL، ورسائل حالة واضحة</a:t>
            </a:r>
            <a:endParaRPr sz="130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3"/>
          <a:srcRect l="341" r="341"/>
          <a:stretch>
            <a:fillRect/>
          </a:stretch>
        </p:blipFill>
        <p:spPr>
          <a:xfrm>
            <a:off x="76200" y="266700"/>
            <a:ext cx="438150" cy="419100"/>
          </a:xfrm>
          <a:prstGeom prst="ellipse">
            <a:avLst/>
          </a:prstGeom>
        </p:spPr>
      </p:pic>
      <p:sp>
        <p:nvSpPr>
          <p:cNvPr id="36" name="University gold footer 5">
            <a:extLst>
              <a:ext uri="{FF2B5EF4-FFF2-40B4-BE49-F238E27FC236}">
                <a16:creationId xmlns:a16="http://schemas.microsoft.com/office/drawing/2014/main" id="{00903595-FD2C-4A2C-A2C9-A48AAF835A8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11068050" cy="28575"/>
          </a:xfrm>
          <a:prstGeom prst="rect">
            <a:avLst/>
          </a:prstGeom>
          <a:solidFill>
            <a:srgbClr val="CDAE58"/>
          </a:solidFill>
          <a:ln w="0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4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6DBF2B-9F0D-42DE-88BB-BBE30CB3A28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3525" b="1">
                <a:solidFill>
                  <a:srgbClr val="14401F"/>
                </a:solidFill>
              </a:defRPr>
            </a:pPr>
            <a:r>
              <a:rPr sz="3525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المخطط الرئيسي (1): حالات الاستخدام</a:t>
            </a:r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6AFB50-039A-4CC5-9502-39A23CA7A685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3525B0-A58D-44BC-AC26-DB6366B3D5D7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2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066800"/>
            <a:ext cx="6429375" cy="542925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90D8558-36D0-4F28-9F57-81BFCC7EDBD2}"/>
              </a:ext>
            </a:extLst>
          </p:cNvPr>
          <p:cNvSpPr>
            <a:spLocks noGrp="1"/>
          </p:cNvSpPr>
          <p:nvPr/>
        </p:nvSpPr>
        <p:spPr>
          <a:xfrm>
            <a:off x="7680960" y="1234440"/>
            <a:ext cx="37947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50">
                <a:solidFill>
                  <a:srgbClr val="27332A"/>
                </a:solidFill>
                <a:latin typeface="Arial"/>
                <a:ea typeface="Arial"/>
                <a:cs typeface="Arial"/>
              </a:rPr>
              <a:t>يوضح المخطط الفواعل والوظائف المتاحة لكل دور داخل حدود النظام.</a:t>
            </a:r>
            <a:endParaRPr sz="145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E102AEF-46FD-4731-8D0A-1ED1F8279B83}"/>
              </a:ext>
            </a:extLst>
          </p:cNvPr>
          <p:cNvSpPr>
            <a:spLocks noGrp="1"/>
          </p:cNvSpPr>
          <p:nvPr/>
        </p:nvSpPr>
        <p:spPr>
          <a:xfrm>
            <a:off x="7680960" y="2788920"/>
            <a:ext cx="3794760" cy="868680"/>
          </a:xfrm>
          <a:prstGeom prst="roundRect">
            <a:avLst>
              <a:gd name="adj" fmla="val 12632"/>
            </a:avLst>
          </a:prstGeom>
          <a:solidFill>
            <a:srgbClr val="F7F7F1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3A532CF-8340-485D-84E6-1B3F6A88B867}"/>
              </a:ext>
            </a:extLst>
          </p:cNvPr>
          <p:cNvSpPr>
            <a:spLocks noGrp="1"/>
          </p:cNvSpPr>
          <p:nvPr/>
        </p:nvSpPr>
        <p:spPr>
          <a:xfrm>
            <a:off x="7863840" y="2898648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50">
                <a:solidFill>
                  <a:srgbClr val="5A6B5C"/>
                </a:solidFill>
                <a:latin typeface="Arial"/>
                <a:ea typeface="Arial"/>
                <a:cs typeface="Arial"/>
              </a:rPr>
              <a:t>الأدوار: زائر، مستفيد، تسجيل، توعية وتسليم، مكتب مساعدة، ومدير</a:t>
            </a:r>
            <a:endParaRPr sz="125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556AFC9-77EA-4921-B4E3-DB83E1A16C92}"/>
              </a:ext>
            </a:extLst>
          </p:cNvPr>
          <p:cNvSpPr>
            <a:spLocks noGrp="1"/>
          </p:cNvSpPr>
          <p:nvPr/>
        </p:nvSpPr>
        <p:spPr>
          <a:xfrm>
            <a:off x="7680960" y="3840480"/>
            <a:ext cx="3794760" cy="868680"/>
          </a:xfrm>
          <a:prstGeom prst="roundRect">
            <a:avLst>
              <a:gd name="adj" fmla="val 12632"/>
            </a:avLst>
          </a:prstGeom>
          <a:solidFill>
            <a:srgbClr val="F7F7F1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D092FA3-773D-411E-96D0-94BE474A3C84}"/>
              </a:ext>
            </a:extLst>
          </p:cNvPr>
          <p:cNvSpPr>
            <a:spLocks noGrp="1"/>
          </p:cNvSpPr>
          <p:nvPr/>
        </p:nvSpPr>
        <p:spPr>
          <a:xfrm>
            <a:off x="7863840" y="3950208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50">
                <a:solidFill>
                  <a:srgbClr val="5A6B5C"/>
                </a:solidFill>
                <a:latin typeface="Arial"/>
                <a:ea typeface="Arial"/>
                <a:cs typeface="Arial"/>
              </a:rPr>
              <a:t>الوظائف المحورية: المصادقة، التسجيل، الشكاوى، المقالات، والمساعدات</a:t>
            </a:r>
            <a:endParaRPr sz="12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EC7585A-A29C-4E1D-81E5-395E7ECB7D8A}"/>
              </a:ext>
            </a:extLst>
          </p:cNvPr>
          <p:cNvSpPr>
            <a:spLocks noGrp="1"/>
          </p:cNvSpPr>
          <p:nvPr/>
        </p:nvSpPr>
        <p:spPr>
          <a:xfrm>
            <a:off x="7680960" y="4892040"/>
            <a:ext cx="3794760" cy="868680"/>
          </a:xfrm>
          <a:prstGeom prst="roundRect">
            <a:avLst>
              <a:gd name="adj" fmla="val 12632"/>
            </a:avLst>
          </a:prstGeom>
          <a:solidFill>
            <a:srgbClr val="F7F7F1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22656C5-8C02-4FAD-B99E-FE5AC013C2C4}"/>
              </a:ext>
            </a:extLst>
          </p:cNvPr>
          <p:cNvSpPr>
            <a:spLocks noGrp="1"/>
          </p:cNvSpPr>
          <p:nvPr/>
        </p:nvSpPr>
        <p:spPr>
          <a:xfrm>
            <a:off x="7863840" y="5001768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50">
                <a:solidFill>
                  <a:srgbClr val="5A6B5C"/>
                </a:solidFill>
                <a:latin typeface="Arial"/>
                <a:ea typeface="Arial"/>
                <a:cs typeface="Arial"/>
              </a:rPr>
              <a:t>الصلاحيات تمنع كل دور من تنفيذ العمليات غير المسموح بها</a:t>
            </a:r>
            <a:endParaRPr sz="125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rcRect l="341" r="341"/>
          <a:stretch>
            <a:fillRect/>
          </a:stretch>
        </p:blipFill>
        <p:spPr>
          <a:xfrm>
            <a:off x="76200" y="266700"/>
            <a:ext cx="438150" cy="419100"/>
          </a:xfrm>
          <a:prstGeom prst="ellipse">
            <a:avLst/>
          </a:prstGeom>
        </p:spPr>
      </p:pic>
      <p:sp>
        <p:nvSpPr>
          <p:cNvPr id="15" name="University gold footer 6">
            <a:extLst>
              <a:ext uri="{FF2B5EF4-FFF2-40B4-BE49-F238E27FC236}">
                <a16:creationId xmlns:a16="http://schemas.microsoft.com/office/drawing/2014/main" id="{3FAF1601-5CAE-450E-B875-05E17BF6737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11068050" cy="28575"/>
          </a:xfrm>
          <a:prstGeom prst="rect">
            <a:avLst/>
          </a:prstGeom>
          <a:solidFill>
            <a:srgbClr val="CDAE58"/>
          </a:solidFill>
          <a:ln w="0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93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F954FD-6285-4C11-984E-1CEBE046DF9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3525" b="1">
                <a:solidFill>
                  <a:srgbClr val="14401F"/>
                </a:solidFill>
              </a:defRPr>
            </a:pPr>
            <a:r>
              <a:rPr sz="3525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المخطط الرئيسي (2): معمارية النظام</a:t>
            </a:r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73CD72-D870-4970-A845-3A74D1B28675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3607A5-0CB2-4E99-B4F7-D753CFB771D5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2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047750"/>
            <a:ext cx="6381750" cy="538162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33DC394-4C8E-46C2-88C3-13BA681B6DDF}"/>
              </a:ext>
            </a:extLst>
          </p:cNvPr>
          <p:cNvSpPr>
            <a:spLocks noGrp="1"/>
          </p:cNvSpPr>
          <p:nvPr/>
        </p:nvSpPr>
        <p:spPr>
          <a:xfrm>
            <a:off x="7680960" y="1234440"/>
            <a:ext cx="37947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50">
                <a:solidFill>
                  <a:srgbClr val="27332A"/>
                </a:solidFill>
                <a:latin typeface="Arial"/>
                <a:ea typeface="Arial"/>
                <a:cs typeface="Arial"/>
              </a:rPr>
              <a:t>تفصل المعمارية الواجهة عن منطق الأعمال والتخزين لضبط الصلاحيات وتسهيل التطوير.</a:t>
            </a:r>
            <a:endParaRPr sz="145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65C32D1-9F81-4352-9543-BE6B151E1CF3}"/>
              </a:ext>
            </a:extLst>
          </p:cNvPr>
          <p:cNvSpPr>
            <a:spLocks noGrp="1"/>
          </p:cNvSpPr>
          <p:nvPr/>
        </p:nvSpPr>
        <p:spPr>
          <a:xfrm>
            <a:off x="7680960" y="2788920"/>
            <a:ext cx="3794760" cy="868680"/>
          </a:xfrm>
          <a:prstGeom prst="roundRect">
            <a:avLst>
              <a:gd name="adj" fmla="val 12632"/>
            </a:avLst>
          </a:prstGeom>
          <a:solidFill>
            <a:srgbClr val="F7F7F1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900E0A6-88D9-4D15-9C32-EA2B551578A9}"/>
              </a:ext>
            </a:extLst>
          </p:cNvPr>
          <p:cNvSpPr>
            <a:spLocks noGrp="1"/>
          </p:cNvSpPr>
          <p:nvPr/>
        </p:nvSpPr>
        <p:spPr>
          <a:xfrm>
            <a:off x="7863840" y="2898648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50">
                <a:solidFill>
                  <a:srgbClr val="5A6B5C"/>
                </a:solidFill>
                <a:latin typeface="Arial"/>
                <a:ea typeface="Arial"/>
                <a:cs typeface="Arial"/>
              </a:rPr>
              <a:t>الواجهة: Next.js وTypeScript تتصل عبر REST/JSON</a:t>
            </a:r>
            <a:endParaRPr sz="125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F2D6714-F94C-4EE4-BE6B-E0FB696DEFEE}"/>
              </a:ext>
            </a:extLst>
          </p:cNvPr>
          <p:cNvSpPr>
            <a:spLocks noGrp="1"/>
          </p:cNvSpPr>
          <p:nvPr/>
        </p:nvSpPr>
        <p:spPr>
          <a:xfrm>
            <a:off x="7680960" y="3840480"/>
            <a:ext cx="3794760" cy="868680"/>
          </a:xfrm>
          <a:prstGeom prst="roundRect">
            <a:avLst>
              <a:gd name="adj" fmla="val 12632"/>
            </a:avLst>
          </a:prstGeom>
          <a:solidFill>
            <a:srgbClr val="F7F7F1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B5A1C47-4CF5-4ABA-A465-7BF8B2E14D7B}"/>
              </a:ext>
            </a:extLst>
          </p:cNvPr>
          <p:cNvSpPr>
            <a:spLocks noGrp="1"/>
          </p:cNvSpPr>
          <p:nvPr/>
        </p:nvSpPr>
        <p:spPr>
          <a:xfrm>
            <a:off x="7863840" y="3950208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50">
                <a:solidFill>
                  <a:srgbClr val="5A6B5C"/>
                </a:solidFill>
                <a:latin typeface="Arial"/>
                <a:ea typeface="Arial"/>
                <a:cs typeface="Arial"/>
              </a:rPr>
              <a:t>الخادم: Django REST وJWT ومنطق الأعمال والتحقق من الوجه</a:t>
            </a:r>
            <a:endParaRPr sz="12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D304FCA-3251-4DF0-82D0-F01A5660A054}"/>
              </a:ext>
            </a:extLst>
          </p:cNvPr>
          <p:cNvSpPr>
            <a:spLocks noGrp="1"/>
          </p:cNvSpPr>
          <p:nvPr/>
        </p:nvSpPr>
        <p:spPr>
          <a:xfrm>
            <a:off x="7680960" y="4892040"/>
            <a:ext cx="3794760" cy="868680"/>
          </a:xfrm>
          <a:prstGeom prst="roundRect">
            <a:avLst>
              <a:gd name="adj" fmla="val 12632"/>
            </a:avLst>
          </a:prstGeom>
          <a:solidFill>
            <a:srgbClr val="F7F7F1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A90F50-E753-4A9B-A3AA-B5ADA71CBCC2}"/>
              </a:ext>
            </a:extLst>
          </p:cNvPr>
          <p:cNvSpPr>
            <a:spLocks noGrp="1"/>
          </p:cNvSpPr>
          <p:nvPr/>
        </p:nvSpPr>
        <p:spPr>
          <a:xfrm>
            <a:off x="7863840" y="5001768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50">
                <a:solidFill>
                  <a:srgbClr val="5A6B5C"/>
                </a:solidFill>
                <a:latin typeface="Arial"/>
                <a:ea typeface="Arial"/>
                <a:cs typeface="Arial"/>
              </a:rPr>
              <a:t>البيانات والخدمات: PostgreSQL وCloudinary والبريد</a:t>
            </a:r>
            <a:endParaRPr sz="125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rcRect l="341" r="341"/>
          <a:stretch>
            <a:fillRect/>
          </a:stretch>
        </p:blipFill>
        <p:spPr>
          <a:xfrm>
            <a:off x="76200" y="266700"/>
            <a:ext cx="438150" cy="419100"/>
          </a:xfrm>
          <a:prstGeom prst="ellipse">
            <a:avLst/>
          </a:prstGeom>
        </p:spPr>
      </p:pic>
      <p:sp>
        <p:nvSpPr>
          <p:cNvPr id="15" name="University gold footer 7">
            <a:extLst>
              <a:ext uri="{FF2B5EF4-FFF2-40B4-BE49-F238E27FC236}">
                <a16:creationId xmlns:a16="http://schemas.microsoft.com/office/drawing/2014/main" id="{A9C0BF41-9A14-4D5D-BCA2-39EBB0B9AFAF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11068050" cy="28575"/>
          </a:xfrm>
          <a:prstGeom prst="rect">
            <a:avLst/>
          </a:prstGeom>
          <a:solidFill>
            <a:srgbClr val="CDAE58"/>
          </a:solidFill>
          <a:ln w="0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21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C2009A-E64A-4F78-83DA-904EC5B01581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3525" b="1">
                <a:solidFill>
                  <a:srgbClr val="14401F"/>
                </a:solidFill>
              </a:defRPr>
            </a:pPr>
            <a:r>
              <a:rPr sz="3525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الأدوات والتقنيات المستخدمة</a:t>
            </a:r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D8D588-2D83-4524-8331-EA4C7769AA33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28D860-0528-4D71-888B-7BF9DD9345FC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2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24B312E-8069-4EB4-BA3D-C717F3D8D63D}"/>
              </a:ext>
            </a:extLst>
          </p:cNvPr>
          <p:cNvSpPr>
            <a:spLocks noGrp="1"/>
          </p:cNvSpPr>
          <p:nvPr/>
        </p:nvSpPr>
        <p:spPr>
          <a:xfrm>
            <a:off x="6355080" y="141732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7F5977-436C-4E5C-AE11-436FB55A0C72}"/>
              </a:ext>
            </a:extLst>
          </p:cNvPr>
          <p:cNvSpPr>
            <a:spLocks noGrp="1"/>
          </p:cNvSpPr>
          <p:nvPr/>
        </p:nvSpPr>
        <p:spPr>
          <a:xfrm>
            <a:off x="6629400" y="1636776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الواجهة الخلفية</a:t>
            </a:r>
            <a:endParaRPr sz="16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FF3732-9B3D-47F6-B978-565F82FE767B}"/>
              </a:ext>
            </a:extLst>
          </p:cNvPr>
          <p:cNvSpPr>
            <a:spLocks noGrp="1"/>
          </p:cNvSpPr>
          <p:nvPr/>
        </p:nvSpPr>
        <p:spPr>
          <a:xfrm>
            <a:off x="6629400" y="2093976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50">
                <a:solidFill>
                  <a:srgbClr val="5A6B5C"/>
                </a:solidFill>
                <a:latin typeface="Arial"/>
                <a:ea typeface="Arial"/>
                <a:cs typeface="Arial"/>
              </a:rPr>
              <a:t>Python · Django 6.0.5 · DRF 3.17.1 · SimpleJWT 5.5.1</a:t>
            </a:r>
            <a:endParaRPr sz="13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F97D491-7A0B-4EFB-8033-8F65A5A09AB0}"/>
              </a:ext>
            </a:extLst>
          </p:cNvPr>
          <p:cNvSpPr>
            <a:spLocks noGrp="1"/>
          </p:cNvSpPr>
          <p:nvPr/>
        </p:nvSpPr>
        <p:spPr>
          <a:xfrm>
            <a:off x="777240" y="141732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6410AC6-0CE3-4F23-8CC3-3BBA29744B6E}"/>
              </a:ext>
            </a:extLst>
          </p:cNvPr>
          <p:cNvSpPr>
            <a:spLocks noGrp="1"/>
          </p:cNvSpPr>
          <p:nvPr/>
        </p:nvSpPr>
        <p:spPr>
          <a:xfrm>
            <a:off x="1051560" y="1636776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الواجهة الأمامية</a:t>
            </a:r>
            <a:endParaRPr sz="16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320025-13B4-42C1-A65C-26A196DB4A79}"/>
              </a:ext>
            </a:extLst>
          </p:cNvPr>
          <p:cNvSpPr>
            <a:spLocks noGrp="1"/>
          </p:cNvSpPr>
          <p:nvPr/>
        </p:nvSpPr>
        <p:spPr>
          <a:xfrm>
            <a:off x="1051560" y="2093976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50">
                <a:solidFill>
                  <a:srgbClr val="5A6B5C"/>
                </a:solidFill>
                <a:latin typeface="Arial"/>
                <a:ea typeface="Arial"/>
                <a:cs typeface="Arial"/>
              </a:rPr>
              <a:t>Next.js 16.2.6 · React 19.2.4 · TypeScript 5 · Tailwind 4</a:t>
            </a:r>
            <a:endParaRPr sz="13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58EBEAB-F171-4DB2-A79A-357C48E84235}"/>
              </a:ext>
            </a:extLst>
          </p:cNvPr>
          <p:cNvSpPr>
            <a:spLocks noGrp="1"/>
          </p:cNvSpPr>
          <p:nvPr/>
        </p:nvSpPr>
        <p:spPr>
          <a:xfrm>
            <a:off x="6355080" y="306324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F14CC09-097C-4825-9F76-6BA58B2A89E5}"/>
              </a:ext>
            </a:extLst>
          </p:cNvPr>
          <p:cNvSpPr>
            <a:spLocks noGrp="1"/>
          </p:cNvSpPr>
          <p:nvPr/>
        </p:nvSpPr>
        <p:spPr>
          <a:xfrm>
            <a:off x="6629400" y="3282696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قواعد البيانات</a:t>
            </a:r>
            <a:endParaRPr sz="16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77514E4-0DEB-404A-9A3B-E0C581A5E42D}"/>
              </a:ext>
            </a:extLst>
          </p:cNvPr>
          <p:cNvSpPr>
            <a:spLocks noGrp="1"/>
          </p:cNvSpPr>
          <p:nvPr/>
        </p:nvSpPr>
        <p:spPr>
          <a:xfrm>
            <a:off x="6629400" y="3739896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50">
                <a:solidFill>
                  <a:srgbClr val="5A6B5C"/>
                </a:solidFill>
                <a:latin typeface="Arial"/>
                <a:ea typeface="Arial"/>
                <a:cs typeface="Arial"/>
              </a:rPr>
              <a:t>MySQL محلياً · PostgreSQL عبر DATABASE_URL في النشر</a:t>
            </a:r>
            <a:endParaRPr sz="13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22B6F60-FA66-4427-9CD4-F3C67C8DADF8}"/>
              </a:ext>
            </a:extLst>
          </p:cNvPr>
          <p:cNvSpPr>
            <a:spLocks noGrp="1"/>
          </p:cNvSpPr>
          <p:nvPr/>
        </p:nvSpPr>
        <p:spPr>
          <a:xfrm>
            <a:off x="777240" y="306324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5466F92-0EC7-4BD5-ABD1-FF39857D3403}"/>
              </a:ext>
            </a:extLst>
          </p:cNvPr>
          <p:cNvSpPr>
            <a:spLocks noGrp="1"/>
          </p:cNvSpPr>
          <p:nvPr/>
        </p:nvSpPr>
        <p:spPr>
          <a:xfrm>
            <a:off x="1051560" y="3282696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التحقق من الوجه</a:t>
            </a:r>
            <a:endParaRPr sz="16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D7F7526-4A6C-4295-8AA8-316A0FF02B08}"/>
              </a:ext>
            </a:extLst>
          </p:cNvPr>
          <p:cNvSpPr>
            <a:spLocks noGrp="1"/>
          </p:cNvSpPr>
          <p:nvPr/>
        </p:nvSpPr>
        <p:spPr>
          <a:xfrm>
            <a:off x="1051560" y="3739896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50">
                <a:solidFill>
                  <a:srgbClr val="5A6B5C"/>
                </a:solidFill>
                <a:latin typeface="Arial"/>
                <a:ea typeface="Arial"/>
                <a:cs typeface="Arial"/>
              </a:rPr>
              <a:t>OpenCV 5 · YuNet · SFace · NumPy · Pillow</a:t>
            </a:r>
            <a:endParaRPr sz="13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683CD57-8C58-4CC5-B431-04E70D94EA53}"/>
              </a:ext>
            </a:extLst>
          </p:cNvPr>
          <p:cNvSpPr>
            <a:spLocks noGrp="1"/>
          </p:cNvSpPr>
          <p:nvPr/>
        </p:nvSpPr>
        <p:spPr>
          <a:xfrm>
            <a:off x="6355080" y="470916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5C57C24-9BFC-4430-A3CF-F5295C105A1D}"/>
              </a:ext>
            </a:extLst>
          </p:cNvPr>
          <p:cNvSpPr>
            <a:spLocks noGrp="1"/>
          </p:cNvSpPr>
          <p:nvPr/>
        </p:nvSpPr>
        <p:spPr>
          <a:xfrm>
            <a:off x="6629400" y="4928616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النشر والتخزين</a:t>
            </a:r>
            <a:endParaRPr sz="16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0D3EE97-2ABC-49ED-822E-7412E701CD4B}"/>
              </a:ext>
            </a:extLst>
          </p:cNvPr>
          <p:cNvSpPr>
            <a:spLocks noGrp="1"/>
          </p:cNvSpPr>
          <p:nvPr/>
        </p:nvSpPr>
        <p:spPr>
          <a:xfrm>
            <a:off x="6629400" y="5385816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50">
                <a:solidFill>
                  <a:srgbClr val="5A6B5C"/>
                </a:solidFill>
                <a:latin typeface="Arial"/>
                <a:ea typeface="Arial"/>
                <a:cs typeface="Arial"/>
              </a:rPr>
              <a:t>Netlify · Render / ngrok · Cloudinary · WhiteNoise</a:t>
            </a:r>
            <a:endParaRPr sz="13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1C74ACB-C183-4DE6-A72D-EEEA217EBE45}"/>
              </a:ext>
            </a:extLst>
          </p:cNvPr>
          <p:cNvSpPr>
            <a:spLocks noGrp="1"/>
          </p:cNvSpPr>
          <p:nvPr/>
        </p:nvSpPr>
        <p:spPr>
          <a:xfrm>
            <a:off x="777240" y="470916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5411412-9124-469D-B181-E97A9F7B58E5}"/>
              </a:ext>
            </a:extLst>
          </p:cNvPr>
          <p:cNvSpPr>
            <a:spLocks noGrp="1"/>
          </p:cNvSpPr>
          <p:nvPr/>
        </p:nvSpPr>
        <p:spPr>
          <a:xfrm>
            <a:off x="1051560" y="4928616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2C5F2D"/>
                </a:solidFill>
                <a:latin typeface="Arial"/>
                <a:ea typeface="Arial"/>
                <a:cs typeface="Arial"/>
              </a:rPr>
              <a:t>التطوير والاختبار</a:t>
            </a:r>
            <a:endParaRPr sz="16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5677A60-79C3-485B-87C9-4C182125C480}"/>
              </a:ext>
            </a:extLst>
          </p:cNvPr>
          <p:cNvSpPr>
            <a:spLocks noGrp="1"/>
          </p:cNvSpPr>
          <p:nvPr/>
        </p:nvSpPr>
        <p:spPr>
          <a:xfrm>
            <a:off x="1051560" y="5385816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50">
                <a:solidFill>
                  <a:srgbClr val="5A6B5C"/>
                </a:solidFill>
                <a:latin typeface="Arial"/>
                <a:ea typeface="Arial"/>
                <a:cs typeface="Arial"/>
              </a:rPr>
              <a:t>Git / GitHub · Postman · draw.io · PlantUML</a:t>
            </a:r>
            <a:endParaRPr sz="135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rcRect l="341" r="341"/>
          <a:stretch>
            <a:fillRect/>
          </a:stretch>
        </p:blipFill>
        <p:spPr>
          <a:xfrm>
            <a:off x="76200" y="266700"/>
            <a:ext cx="438150" cy="419100"/>
          </a:xfrm>
          <a:prstGeom prst="ellipse">
            <a:avLst/>
          </a:prstGeom>
        </p:spPr>
      </p:pic>
      <p:sp>
        <p:nvSpPr>
          <p:cNvPr id="24" name="University gold footer 8">
            <a:extLst>
              <a:ext uri="{FF2B5EF4-FFF2-40B4-BE49-F238E27FC236}">
                <a16:creationId xmlns:a16="http://schemas.microsoft.com/office/drawing/2014/main" id="{A71D6AB0-EB30-434D-9019-E7D351792BB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11068050" cy="28575"/>
          </a:xfrm>
          <a:prstGeom prst="rect">
            <a:avLst/>
          </a:prstGeom>
          <a:solidFill>
            <a:srgbClr val="CDAE58"/>
          </a:solidFill>
          <a:ln w="0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47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4E22E8-0327-406C-961E-C55186FC714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3525" b="1">
                <a:solidFill>
                  <a:srgbClr val="14401F"/>
                </a:solidFill>
              </a:defRPr>
            </a:pPr>
            <a:r>
              <a:rPr sz="3525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الخاتمة والأعمال المستقبلية</a:t>
            </a:r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B2D059-E6E5-4FE2-88F9-FAB8835A2EB9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3B628E-DD5C-4648-810C-91B1ABE50CB3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2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5E9241-5E55-4D62-ADBB-2AFB0D624485}"/>
              </a:ext>
            </a:extLst>
          </p:cNvPr>
          <p:cNvSpPr>
            <a:spLocks noGrp="1"/>
          </p:cNvSpPr>
          <p:nvPr/>
        </p:nvSpPr>
        <p:spPr>
          <a:xfrm>
            <a:off x="777240" y="1371600"/>
            <a:ext cx="10607040" cy="1024128"/>
          </a:xfrm>
          <a:prstGeom prst="roundRect">
            <a:avLst>
              <a:gd name="adj" fmla="val 10714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096B945-F056-4418-BDF0-5CD052571A46}"/>
              </a:ext>
            </a:extLst>
          </p:cNvPr>
          <p:cNvSpPr>
            <a:spLocks noGrp="1"/>
          </p:cNvSpPr>
          <p:nvPr/>
        </p:nvSpPr>
        <p:spPr>
          <a:xfrm>
            <a:off x="10652760" y="1655064"/>
            <a:ext cx="457200" cy="457200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C5D192-7935-4FE2-AE7F-23063C97C413}"/>
              </a:ext>
            </a:extLst>
          </p:cNvPr>
          <p:cNvSpPr>
            <a:spLocks noGrp="1"/>
          </p:cNvSpPr>
          <p:nvPr/>
        </p:nvSpPr>
        <p:spPr>
          <a:xfrm>
            <a:off x="10652760" y="16550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1</a:t>
            </a:r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1316AC-7137-4A79-A93D-18CE9F963C7B}"/>
              </a:ext>
            </a:extLst>
          </p:cNvPr>
          <p:cNvSpPr>
            <a:spLocks noGrp="1"/>
          </p:cNvSpPr>
          <p:nvPr/>
        </p:nvSpPr>
        <p:spPr>
          <a:xfrm>
            <a:off x="1051560" y="1490472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الخلاصة</a:t>
            </a:r>
            <a:endParaRPr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E7076AF-C190-4EBB-B500-1966B8334DA8}"/>
              </a:ext>
            </a:extLst>
          </p:cNvPr>
          <p:cNvSpPr>
            <a:spLocks noGrp="1"/>
          </p:cNvSpPr>
          <p:nvPr/>
        </p:nvSpPr>
        <p:spPr>
          <a:xfrm>
            <a:off x="1051560" y="187452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50">
                <a:solidFill>
                  <a:srgbClr val="5A6B5C"/>
                </a:solidFill>
                <a:latin typeface="Arial"/>
                <a:ea typeface="Arial"/>
                <a:cs typeface="Arial"/>
              </a:rPr>
              <a:t>وحّد النظام تسجيل المستفيدين والمساعدات والشكاوى والإشعارات، وأضاف توثيقاً للتحقق من هوية المستلم.</a:t>
            </a:r>
            <a:endParaRPr sz="12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A4313B4-27CD-4ADA-9A5C-894627A9CB8C}"/>
              </a:ext>
            </a:extLst>
          </p:cNvPr>
          <p:cNvSpPr>
            <a:spLocks noGrp="1"/>
          </p:cNvSpPr>
          <p:nvPr/>
        </p:nvSpPr>
        <p:spPr>
          <a:xfrm>
            <a:off x="777240" y="2578608"/>
            <a:ext cx="10607040" cy="1024128"/>
          </a:xfrm>
          <a:prstGeom prst="roundRect">
            <a:avLst>
              <a:gd name="adj" fmla="val 10714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27073D0-1CB6-41E1-921D-6F9A508936DB}"/>
              </a:ext>
            </a:extLst>
          </p:cNvPr>
          <p:cNvSpPr>
            <a:spLocks noGrp="1"/>
          </p:cNvSpPr>
          <p:nvPr/>
        </p:nvSpPr>
        <p:spPr>
          <a:xfrm>
            <a:off x="10652760" y="2862072"/>
            <a:ext cx="457200" cy="457200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9F8A007-E129-4763-9835-A8E725BFC797}"/>
              </a:ext>
            </a:extLst>
          </p:cNvPr>
          <p:cNvSpPr>
            <a:spLocks noGrp="1"/>
          </p:cNvSpPr>
          <p:nvPr/>
        </p:nvSpPr>
        <p:spPr>
          <a:xfrm>
            <a:off x="10652760" y="2862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2</a:t>
            </a:r>
            <a:endParaRPr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F48C0B3-931F-497F-9997-F6338EEEF48B}"/>
              </a:ext>
            </a:extLst>
          </p:cNvPr>
          <p:cNvSpPr>
            <a:spLocks noGrp="1"/>
          </p:cNvSpPr>
          <p:nvPr/>
        </p:nvSpPr>
        <p:spPr>
          <a:xfrm>
            <a:off x="1051560" y="26974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تطبيق هاتف وحضور الموظفين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BE5EC69-C9DD-4349-8F5F-633341AA32D2}"/>
              </a:ext>
            </a:extLst>
          </p:cNvPr>
          <p:cNvSpPr>
            <a:spLocks noGrp="1"/>
          </p:cNvSpPr>
          <p:nvPr/>
        </p:nvSpPr>
        <p:spPr>
          <a:xfrm>
            <a:off x="1051560" y="308152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50">
                <a:solidFill>
                  <a:srgbClr val="5A6B5C"/>
                </a:solidFill>
                <a:latin typeface="Arial"/>
                <a:ea typeface="Arial"/>
                <a:cs typeface="Arial"/>
              </a:rPr>
              <a:t>تسجيل الحضور بالموقع ورمز QR مع ضوابط تمنع التسجيل نيابةً عن الغير</a:t>
            </a:r>
            <a:endParaRPr sz="12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DEBE6A3-7A37-4617-B4BC-BEDC43477EB3}"/>
              </a:ext>
            </a:extLst>
          </p:cNvPr>
          <p:cNvSpPr>
            <a:spLocks noGrp="1"/>
          </p:cNvSpPr>
          <p:nvPr/>
        </p:nvSpPr>
        <p:spPr>
          <a:xfrm>
            <a:off x="777240" y="3785616"/>
            <a:ext cx="10607040" cy="1024128"/>
          </a:xfrm>
          <a:prstGeom prst="roundRect">
            <a:avLst>
              <a:gd name="adj" fmla="val 10714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6944C82-FF70-4495-80F8-D258A8EC9032}"/>
              </a:ext>
            </a:extLst>
          </p:cNvPr>
          <p:cNvSpPr>
            <a:spLocks noGrp="1"/>
          </p:cNvSpPr>
          <p:nvPr/>
        </p:nvSpPr>
        <p:spPr>
          <a:xfrm>
            <a:off x="10652760" y="4069080"/>
            <a:ext cx="457200" cy="457200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C5EE321-AEBA-43B9-99A1-987E98A0024E}"/>
              </a:ext>
            </a:extLst>
          </p:cNvPr>
          <p:cNvSpPr>
            <a:spLocks noGrp="1"/>
          </p:cNvSpPr>
          <p:nvPr/>
        </p:nvSpPr>
        <p:spPr>
          <a:xfrm>
            <a:off x="10652760" y="4069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3</a:t>
            </a:r>
            <a:endParaRPr sz="15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0D58780-BCCC-4FCB-AA00-5C565A8B16A1}"/>
              </a:ext>
            </a:extLst>
          </p:cNvPr>
          <p:cNvSpPr>
            <a:spLocks noGrp="1"/>
          </p:cNvSpPr>
          <p:nvPr/>
        </p:nvSpPr>
        <p:spPr>
          <a:xfrm>
            <a:off x="1051560" y="3904488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تقارير ونسخ احتياطي</a:t>
            </a:r>
            <a:endParaRPr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8722DF0-1538-44AF-B596-AAAF1384FE8A}"/>
              </a:ext>
            </a:extLst>
          </p:cNvPr>
          <p:cNvSpPr>
            <a:spLocks noGrp="1"/>
          </p:cNvSpPr>
          <p:nvPr/>
        </p:nvSpPr>
        <p:spPr>
          <a:xfrm>
            <a:off x="1051560" y="4288536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50">
                <a:solidFill>
                  <a:srgbClr val="5A6B5C"/>
                </a:solidFill>
                <a:latin typeface="Arial"/>
                <a:ea typeface="Arial"/>
                <a:cs typeface="Arial"/>
              </a:rPr>
              <a:t>توليد تقارير دورية، تصدير البيانات وجدولة النسخ الاحتياطي</a:t>
            </a:r>
            <a:endParaRPr sz="12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52021E7-B58D-428A-99C7-1296E8041E2D}"/>
              </a:ext>
            </a:extLst>
          </p:cNvPr>
          <p:cNvSpPr>
            <a:spLocks noGrp="1"/>
          </p:cNvSpPr>
          <p:nvPr/>
        </p:nvSpPr>
        <p:spPr>
          <a:xfrm>
            <a:off x="777240" y="4992624"/>
            <a:ext cx="10607040" cy="1024128"/>
          </a:xfrm>
          <a:prstGeom prst="roundRect">
            <a:avLst>
              <a:gd name="adj" fmla="val 10714"/>
            </a:avLst>
          </a:prstGeom>
          <a:solidFill>
            <a:srgbClr val="FFFEFA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B7E0CFA-F9C4-42DA-A6E2-20EEDC5C24E8}"/>
              </a:ext>
            </a:extLst>
          </p:cNvPr>
          <p:cNvSpPr>
            <a:spLocks noGrp="1"/>
          </p:cNvSpPr>
          <p:nvPr/>
        </p:nvSpPr>
        <p:spPr>
          <a:xfrm>
            <a:off x="10652760" y="5276088"/>
            <a:ext cx="457200" cy="457200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1E7DEBB-BECC-4D5F-8432-2473EB58CD34}"/>
              </a:ext>
            </a:extLst>
          </p:cNvPr>
          <p:cNvSpPr>
            <a:spLocks noGrp="1"/>
          </p:cNvSpPr>
          <p:nvPr/>
        </p:nvSpPr>
        <p:spPr>
          <a:xfrm>
            <a:off x="10652760" y="52760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4</a:t>
            </a:r>
            <a:endParaRPr sz="15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4F5AC9C-69EB-4868-9B80-280042363149}"/>
              </a:ext>
            </a:extLst>
          </p:cNvPr>
          <p:cNvSpPr>
            <a:spLocks noGrp="1"/>
          </p:cNvSpPr>
          <p:nvPr/>
        </p:nvSpPr>
        <p:spPr>
          <a:xfrm>
            <a:off x="1051560" y="5111496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توسيع الاتصال والتحقق</a:t>
            </a:r>
            <a:endParaRPr sz="16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A204C19-C231-40D9-A0C7-571EBD60A7F7}"/>
              </a:ext>
            </a:extLst>
          </p:cNvPr>
          <p:cNvSpPr>
            <a:spLocks noGrp="1"/>
          </p:cNvSpPr>
          <p:nvPr/>
        </p:nvSpPr>
        <p:spPr>
          <a:xfrm>
            <a:off x="1051560" y="5495544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250">
                <a:solidFill>
                  <a:srgbClr val="5A6B5C"/>
                </a:solidFill>
                <a:latin typeface="Arial"/>
                <a:ea typeface="Arial"/>
                <a:cs typeface="Arial"/>
              </a:rPr>
              <a:t>إشعارات لحظية، محادثة متسلسلة للشكاوى، وتوسيع التحقق البيومتري</a:t>
            </a:r>
            <a:endParaRPr sz="1250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rcRect l="341" r="341"/>
          <a:stretch>
            <a:fillRect/>
          </a:stretch>
        </p:blipFill>
        <p:spPr>
          <a:xfrm>
            <a:off x="76200" y="266700"/>
            <a:ext cx="438150" cy="419100"/>
          </a:xfrm>
          <a:prstGeom prst="ellipse">
            <a:avLst/>
          </a:prstGeom>
        </p:spPr>
      </p:pic>
      <p:sp>
        <p:nvSpPr>
          <p:cNvPr id="26" name="University gold footer 9">
            <a:extLst>
              <a:ext uri="{FF2B5EF4-FFF2-40B4-BE49-F238E27FC236}">
                <a16:creationId xmlns:a16="http://schemas.microsoft.com/office/drawing/2014/main" id="{DA8FBF94-62E1-4D7B-BE9B-028493EE338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11068050" cy="28575"/>
          </a:xfrm>
          <a:prstGeom prst="rect">
            <a:avLst/>
          </a:prstGeom>
          <a:solidFill>
            <a:srgbClr val="CDAE58"/>
          </a:solidFill>
          <a:ln w="0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20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A9468A-5B92-4446-990D-6E46A7D209D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3525" b="1">
                <a:solidFill>
                  <a:srgbClr val="14401F"/>
                </a:solidFill>
              </a:defRPr>
            </a:pPr>
            <a:r>
              <a:rPr sz="3525" b="1">
                <a:solidFill>
                  <a:srgbClr val="14401F"/>
                </a:solidFill>
                <a:latin typeface="Arial"/>
                <a:ea typeface="Arial"/>
                <a:cs typeface="Arial"/>
              </a:rPr>
              <a:t>المراجع</a:t>
            </a:r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96D268-31F7-4696-96E2-59EF7475227A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ellipse">
            <a:avLst/>
          </a:prstGeom>
          <a:solidFill>
            <a:srgbClr val="CDAE58"/>
          </a:solidFill>
          <a:ln w="4763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0FB875-A72C-4D8B-BE74-8774097BC9AD}"/>
              </a:ext>
            </a:extLst>
          </p:cNvPr>
          <p:cNvSpPr>
            <a:spLocks noGrp="1"/>
          </p:cNvSpPr>
          <p:nvPr/>
        </p:nvSpPr>
        <p:spPr>
          <a:xfrm>
            <a:off x="11018520" y="365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020A8F-50EC-4E61-8853-7FB74956C804}"/>
              </a:ext>
            </a:extLst>
          </p:cNvPr>
          <p:cNvSpPr>
            <a:spLocks noGrp="1"/>
          </p:cNvSpPr>
          <p:nvPr/>
        </p:nvSpPr>
        <p:spPr>
          <a:xfrm>
            <a:off x="777240" y="1234440"/>
            <a:ext cx="10607040" cy="3931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Aft>
                <a:spcPts val="800"/>
              </a:spcAft>
              <a:buNone/>
              <a:defRPr sz="1500">
                <a:solidFill>
                  <a:srgbClr val="27332A"/>
                </a:solidFill>
              </a:defRPr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[1] Project Team. Field Analysis: Interviews and Surveys, 2026.</a:t>
            </a:r>
            <a:endParaRPr sz="1500"/>
          </a:p>
          <a:p>
            <a:pPr marL="0" indent="0" algn="l">
              <a:spcAft>
                <a:spcPts val="800"/>
              </a:spcAft>
              <a:buNone/>
              <a:defRPr sz="1500">
                <a:solidFill>
                  <a:srgbClr val="27332A"/>
                </a:solidFill>
              </a:defRPr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[2] Project Team. Source Code: Next.js + Django REST, 2026.</a:t>
            </a:r>
            <a:endParaRPr sz="1500"/>
          </a:p>
          <a:p>
            <a:pPr marL="0" indent="0" algn="l">
              <a:spcAft>
                <a:spcPts val="800"/>
              </a:spcAft>
              <a:buNone/>
              <a:defRPr sz="1500">
                <a:solidFill>
                  <a:srgbClr val="27332A"/>
                </a:solidFill>
              </a:defRPr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[3] Django Software Foundation. Django 6.0 Documentation, 2026.</a:t>
            </a:r>
            <a:endParaRPr sz="1500"/>
          </a:p>
          <a:p>
            <a:pPr marL="0" indent="0" algn="l">
              <a:spcAft>
                <a:spcPts val="800"/>
              </a:spcAft>
              <a:buNone/>
              <a:defRPr sz="1500">
                <a:solidFill>
                  <a:srgbClr val="27332A"/>
                </a:solidFill>
              </a:defRPr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[4] Encode OSS. Django REST Framework Documentation, 2026.</a:t>
            </a:r>
            <a:endParaRPr sz="1500"/>
          </a:p>
          <a:p>
            <a:pPr marL="0" indent="0" algn="l">
              <a:spcAft>
                <a:spcPts val="800"/>
              </a:spcAft>
              <a:buNone/>
              <a:defRPr sz="1500">
                <a:solidFill>
                  <a:srgbClr val="27332A"/>
                </a:solidFill>
              </a:defRPr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[5] Jazzband. Simple JWT Documentation, 2025.</a:t>
            </a:r>
            <a:endParaRPr sz="1500"/>
          </a:p>
          <a:p>
            <a:pPr marL="0" indent="0" algn="l">
              <a:spcAft>
                <a:spcPts val="800"/>
              </a:spcAft>
              <a:buNone/>
              <a:defRPr sz="1500">
                <a:solidFill>
                  <a:srgbClr val="27332A"/>
                </a:solidFill>
              </a:defRPr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[6] Vercel. Next.js App Router Documentation, 2026.</a:t>
            </a:r>
            <a:endParaRPr sz="1500"/>
          </a:p>
          <a:p>
            <a:pPr marL="0" indent="0" algn="l">
              <a:spcAft>
                <a:spcPts val="800"/>
              </a:spcAft>
              <a:buNone/>
              <a:defRPr sz="1500">
                <a:solidFill>
                  <a:srgbClr val="27332A"/>
                </a:solidFill>
              </a:defRPr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[7] OpenCV. DNN-based Face Detection and Recognition, 2025.</a:t>
            </a:r>
            <a:endParaRPr sz="1500"/>
          </a:p>
          <a:p>
            <a:pPr marL="0" indent="0" algn="l">
              <a:spcAft>
                <a:spcPts val="800"/>
              </a:spcAft>
              <a:buNone/>
              <a:defRPr sz="1500">
                <a:solidFill>
                  <a:srgbClr val="27332A"/>
                </a:solidFill>
              </a:defRPr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[8] Wu et al. YuNet: A Tiny Millisecond-level Face Detector, 2023.</a:t>
            </a:r>
            <a:endParaRPr sz="1500"/>
          </a:p>
          <a:p>
            <a:pPr marL="0" indent="0" algn="l">
              <a:spcAft>
                <a:spcPts val="800"/>
              </a:spcAft>
              <a:buNone/>
              <a:defRPr sz="1500">
                <a:solidFill>
                  <a:srgbClr val="27332A"/>
                </a:solidFill>
              </a:defRPr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[9] Zhong &amp; Deng. SFace: Sigmoid-Constrained Hypersphere Loss, 2021.</a:t>
            </a:r>
            <a:endParaRPr sz="1500"/>
          </a:p>
          <a:p>
            <a:pPr marL="0" indent="0" algn="l">
              <a:spcAft>
                <a:spcPts val="800"/>
              </a:spcAft>
              <a:buNone/>
              <a:defRPr sz="1500">
                <a:solidFill>
                  <a:srgbClr val="27332A"/>
                </a:solidFill>
              </a:defRPr>
            </a:pPr>
            <a:r>
              <a:rPr sz="1500">
                <a:solidFill>
                  <a:srgbClr val="27332A"/>
                </a:solidFill>
                <a:latin typeface="Arial"/>
                <a:ea typeface="Arial"/>
                <a:cs typeface="Arial"/>
              </a:rPr>
              <a:t>[10] World Health Organization. Malnutrition Fact Sheet, 2024.</a:t>
            </a:r>
            <a:endParaRPr sz="15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788EE82-A53F-4DE6-B8E3-622816DFCEB6}"/>
              </a:ext>
            </a:extLst>
          </p:cNvPr>
          <p:cNvSpPr>
            <a:spLocks noGrp="1"/>
          </p:cNvSpPr>
          <p:nvPr/>
        </p:nvSpPr>
        <p:spPr>
          <a:xfrm>
            <a:off x="777240" y="539496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7F7F1"/>
          </a:solidFill>
          <a:ln w="11430">
            <a:solidFill>
              <a:srgbClr val="DCCB95"/>
            </a:solidFill>
            <a:prstDash val="solid"/>
          </a:ln>
          <a:effectLst>
            <a:outerShdw blurRad="101600" dist="12700" dir="54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21D490-E9AF-4C9B-8101-77BDB9D3633B}"/>
              </a:ext>
            </a:extLst>
          </p:cNvPr>
          <p:cNvSpPr>
            <a:spLocks noGrp="1"/>
          </p:cNvSpPr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350">
                <a:solidFill>
                  <a:srgbClr val="5A6B5C"/>
                </a:solidFill>
                <a:latin typeface="Arial"/>
                <a:ea typeface="Arial"/>
                <a:cs typeface="Arial"/>
              </a:rPr>
              <a:t>مراجع المجال والنشر: WHO Malnutrition · Netlify · Render · Cloudinary · PostgreSQL.</a:t>
            </a:r>
            <a:endParaRPr sz="135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341" r="341"/>
          <a:stretch>
            <a:fillRect/>
          </a:stretch>
        </p:blipFill>
        <p:spPr>
          <a:xfrm>
            <a:off x="76200" y="266700"/>
            <a:ext cx="438150" cy="419100"/>
          </a:xfrm>
          <a:prstGeom prst="ellipse">
            <a:avLst/>
          </a:prstGeom>
        </p:spPr>
      </p:pic>
      <p:sp>
        <p:nvSpPr>
          <p:cNvPr id="9" name="University gold footer 10">
            <a:extLst>
              <a:ext uri="{FF2B5EF4-FFF2-40B4-BE49-F238E27FC236}">
                <a16:creationId xmlns:a16="http://schemas.microsoft.com/office/drawing/2014/main" id="{E8B03E17-EEC5-423C-9CDB-A5BB6F81584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11068050" cy="28575"/>
          </a:xfrm>
          <a:prstGeom prst="rect">
            <a:avLst/>
          </a:prstGeom>
          <a:solidFill>
            <a:srgbClr val="CDAE58"/>
          </a:solidFill>
          <a:ln w="0">
            <a:solidFill>
              <a:srgbClr val="CD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31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1670</Words>
  <Application>Microsoft Office PowerPoint</Application>
  <DocSecurity>0</DocSecurity>
  <PresentationFormat>Widescreen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LOQ</cp:lastModifiedBy>
  <cp:revision>2</cp:revision>
  <dcterms:created xsi:type="dcterms:W3CDTF">2026-08-25T13:49:33Z</dcterms:created>
  <dcterms:modified xsi:type="dcterms:W3CDTF">2026-08-25T16:18:51Z</dcterms:modified>
</cp:coreProperties>
</file>